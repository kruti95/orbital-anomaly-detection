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Urbanist Medium"/>
      <p:regular r:id="rId21"/>
      <p:bold r:id="rId22"/>
      <p:italic r:id="rId23"/>
      <p:boldItalic r:id="rId24"/>
    </p:embeddedFont>
    <p:embeddedFont>
      <p:font typeface="Urbanist SemiBold"/>
      <p:regular r:id="rId25"/>
      <p:bold r:id="rId26"/>
      <p:italic r:id="rId27"/>
      <p:boldItalic r:id="rId28"/>
    </p:embeddedFont>
    <p:embeddedFont>
      <p:font typeface="Urbanist"/>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UrbanistMedium-bold.fntdata"/><Relationship Id="rId21" Type="http://schemas.openxmlformats.org/officeDocument/2006/relationships/font" Target="fonts/UrbanistMedium-regular.fntdata"/><Relationship Id="rId24" Type="http://schemas.openxmlformats.org/officeDocument/2006/relationships/font" Target="fonts/UrbanistMedium-boldItalic.fntdata"/><Relationship Id="rId23" Type="http://schemas.openxmlformats.org/officeDocument/2006/relationships/font" Target="fonts/Urbanist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UrbanistSemiBold-bold.fntdata"/><Relationship Id="rId25" Type="http://schemas.openxmlformats.org/officeDocument/2006/relationships/font" Target="fonts/UrbanistSemiBold-regular.fntdata"/><Relationship Id="rId28" Type="http://schemas.openxmlformats.org/officeDocument/2006/relationships/font" Target="fonts/UrbanistSemiBold-boldItalic.fntdata"/><Relationship Id="rId27" Type="http://schemas.openxmlformats.org/officeDocument/2006/relationships/font" Target="fonts/UrbanistSemi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Urbanis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Urbanist-italic.fntdata"/><Relationship Id="rId30" Type="http://schemas.openxmlformats.org/officeDocument/2006/relationships/font" Target="fonts/Urbanist-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Urbanist-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7eb74c2b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7eb74c2b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7eb74c2be9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7eb74c2be9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7f1835daf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7f1835daf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7eb74c2be9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7eb74c2be9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7eb74c2be9_0_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7eb74c2be9_0_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7eb74c2be9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7eb74c2be9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7ed671dd92_1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7ed671dd92_1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7f04c4a095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37f04c4a095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7ed671dd92_1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7ed671dd92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7eb74c2be9_0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7eb74c2be9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7efaf698ad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7efaf698ad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7efaf698ad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37efaf698ad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7efaf698ad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7efaf698ad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7eb74c2be9_0_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7eb74c2be9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7eb74c2be9_0_8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37eb74c2be9_0_8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10" name="Shape 10"/>
        <p:cNvGrpSpPr/>
        <p:nvPr/>
      </p:nvGrpSpPr>
      <p:grpSpPr>
        <a:xfrm>
          <a:off x="0" y="0"/>
          <a:ext cx="0" cy="0"/>
          <a:chOff x="0" y="0"/>
          <a:chExt cx="0" cy="0"/>
        </a:xfrm>
      </p:grpSpPr>
      <p:pic>
        <p:nvPicPr>
          <p:cNvPr id="11" name="Google Shape;11;p2"/>
          <p:cNvPicPr preferRelativeResize="0"/>
          <p:nvPr/>
        </p:nvPicPr>
        <p:blipFill rotWithShape="1">
          <a:blip r:embed="rId2">
            <a:alphaModFix amt="50000"/>
          </a:blip>
          <a:srcRect b="8145" l="3133" r="7834" t="16785"/>
          <a:stretch/>
        </p:blipFill>
        <p:spPr>
          <a:xfrm flipH="1" rot="10800000">
            <a:off x="0" y="-3474"/>
            <a:ext cx="9161550" cy="5154499"/>
          </a:xfrm>
          <a:prstGeom prst="rect">
            <a:avLst/>
          </a:prstGeom>
          <a:noFill/>
          <a:ln>
            <a:noFill/>
          </a:ln>
        </p:spPr>
      </p:pic>
      <p:sp>
        <p:nvSpPr>
          <p:cNvPr id="12" name="Google Shape;12;p2"/>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 name="Google Shape;13;p2"/>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14" name="Google Shape;14;p2"/>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5" name="Google Shape;15;p2"/>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 name="Google Shape;16;p2"/>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 name="Google Shape;17;p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 name="Google Shape;18;p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 name="Google Shape;19;p2"/>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20" name="Google Shape;20;p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1" name="Google Shape;21;p2"/>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2" name="Google Shape;22;p2"/>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3" name="Google Shape;23;p2"/>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24" name="Google Shape;24;p2"/>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25" name="Shape 25"/>
        <p:cNvGrpSpPr/>
        <p:nvPr/>
      </p:nvGrpSpPr>
      <p:grpSpPr>
        <a:xfrm>
          <a:off x="0" y="0"/>
          <a:ext cx="0" cy="0"/>
          <a:chOff x="0" y="0"/>
          <a:chExt cx="0" cy="0"/>
        </a:xfrm>
      </p:grpSpPr>
      <p:sp>
        <p:nvSpPr>
          <p:cNvPr id="26" name="Google Shape;26;p3"/>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7" name="Google Shape;27;p3"/>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28" name="Google Shape;28;p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 name="Google Shape;29;p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 name="Google Shape;30;p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 name="Google Shape;31;p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32" name="Google Shape;32;p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33" name="Google Shape;33;p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34" name="Shape 34"/>
        <p:cNvGrpSpPr/>
        <p:nvPr/>
      </p:nvGrpSpPr>
      <p:grpSpPr>
        <a:xfrm>
          <a:off x="0" y="0"/>
          <a:ext cx="0" cy="0"/>
          <a:chOff x="0" y="0"/>
          <a:chExt cx="0" cy="0"/>
        </a:xfrm>
      </p:grpSpPr>
      <p:sp>
        <p:nvSpPr>
          <p:cNvPr id="35" name="Google Shape;35;p4"/>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6" name="Google Shape;36;p4"/>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37" name="Google Shape;37;p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8" name="Google Shape;38;p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9" name="Google Shape;39;p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40" name="Google Shape;40;p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1" name="Google Shape;41;p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42" name="Google Shape;42;p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43" name="Google Shape;43;p4"/>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4" name="Google Shape;44;p4"/>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5" name="Google Shape;45;p4"/>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6" name="Google Shape;46;p4"/>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7" name="Google Shape;47;p4"/>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8" name="Google Shape;48;p4"/>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49" name="Shape 49"/>
        <p:cNvGrpSpPr/>
        <p:nvPr/>
      </p:nvGrpSpPr>
      <p:grpSpPr>
        <a:xfrm>
          <a:off x="0" y="0"/>
          <a:ext cx="0" cy="0"/>
          <a:chOff x="0" y="0"/>
          <a:chExt cx="0" cy="0"/>
        </a:xfrm>
      </p:grpSpPr>
      <p:sp>
        <p:nvSpPr>
          <p:cNvPr id="50" name="Google Shape;50;p5"/>
          <p:cNvSpPr/>
          <p:nvPr>
            <p:ph idx="2" type="pic"/>
          </p:nvPr>
        </p:nvSpPr>
        <p:spPr>
          <a:xfrm>
            <a:off x="246150" y="237650"/>
            <a:ext cx="4196400" cy="4438200"/>
          </a:xfrm>
          <a:prstGeom prst="rect">
            <a:avLst/>
          </a:prstGeom>
          <a:noFill/>
          <a:ln>
            <a:noFill/>
          </a:ln>
        </p:spPr>
      </p:sp>
      <p:sp>
        <p:nvSpPr>
          <p:cNvPr id="51" name="Google Shape;51;p5"/>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2" name="Google Shape;52;p5"/>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3" name="Google Shape;53;p5"/>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54" name="Google Shape;54;p5"/>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5" name="Google Shape;55;p5"/>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6" name="Google Shape;56;p5"/>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7" name="Google Shape;57;p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8" name="Google Shape;58;p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59" name="Google Shape;59;p5"/>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60" name="Google Shape;60;p5"/>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61" name="Google Shape;61;p5"/>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62" name="Google Shape;62;p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63" name="Shape 63"/>
        <p:cNvGrpSpPr/>
        <p:nvPr/>
      </p:nvGrpSpPr>
      <p:grpSpPr>
        <a:xfrm>
          <a:off x="0" y="0"/>
          <a:ext cx="0" cy="0"/>
          <a:chOff x="0" y="0"/>
          <a:chExt cx="0" cy="0"/>
        </a:xfrm>
      </p:grpSpPr>
      <p:sp>
        <p:nvSpPr>
          <p:cNvPr id="64" name="Google Shape;64;p6"/>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65" name="Google Shape;65;p6"/>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6" name="Google Shape;66;p6"/>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7" name="Google Shape;67;p6"/>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68" name="Google Shape;68;p6"/>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69" name="Google Shape;69;p6"/>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0" name="Google Shape;70;p6"/>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1" name="Google Shape;71;p6"/>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2" name="Google Shape;72;p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3" name="Google Shape;73;p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4" name="Google Shape;74;p6"/>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75" name="Google Shape;75;p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76" name="Shape 76"/>
        <p:cNvGrpSpPr/>
        <p:nvPr/>
      </p:nvGrpSpPr>
      <p:grpSpPr>
        <a:xfrm>
          <a:off x="0" y="0"/>
          <a:ext cx="0" cy="0"/>
          <a:chOff x="0" y="0"/>
          <a:chExt cx="0" cy="0"/>
        </a:xfrm>
      </p:grpSpPr>
      <p:pic>
        <p:nvPicPr>
          <p:cNvPr id="77" name="Google Shape;77;p7"/>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78" name="Google Shape;78;p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9" name="Google Shape;79;p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0" name="Google Shape;80;p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1" name="Google Shape;81;p7"/>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82" name="Google Shape;82;p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3" name="Google Shape;83;p7"/>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4" name="Google Shape;84;p7"/>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5" name="Google Shape;85;p7"/>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6" name="Google Shape;86;p7"/>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7" name="Google Shape;87;p7"/>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8" name="Google Shape;88;p7"/>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9" name="Google Shape;89;p7"/>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0" name="Google Shape;90;p7"/>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1" name="Google Shape;91;p7"/>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2" name="Google Shape;92;p7"/>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3" name="Google Shape;93;p7"/>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4" name="Google Shape;94;p7"/>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5" name="Google Shape;95;p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6" name="Google Shape;96;p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7" name="Google Shape;97;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98" name="Shape 98"/>
        <p:cNvGrpSpPr/>
        <p:nvPr/>
      </p:nvGrpSpPr>
      <p:grpSpPr>
        <a:xfrm>
          <a:off x="0" y="0"/>
          <a:ext cx="0" cy="0"/>
          <a:chOff x="0" y="0"/>
          <a:chExt cx="0" cy="0"/>
        </a:xfrm>
      </p:grpSpPr>
      <p:sp>
        <p:nvSpPr>
          <p:cNvPr id="99" name="Google Shape;99;p8"/>
          <p:cNvSpPr/>
          <p:nvPr>
            <p:ph idx="2" type="pic"/>
          </p:nvPr>
        </p:nvSpPr>
        <p:spPr>
          <a:xfrm>
            <a:off x="4618950" y="228600"/>
            <a:ext cx="1370400" cy="1357500"/>
          </a:xfrm>
          <a:prstGeom prst="roundRect">
            <a:avLst>
              <a:gd fmla="val 16935" name="adj"/>
            </a:avLst>
          </a:prstGeom>
          <a:noFill/>
          <a:ln>
            <a:noFill/>
          </a:ln>
        </p:spPr>
      </p:sp>
      <p:sp>
        <p:nvSpPr>
          <p:cNvPr id="100" name="Google Shape;100;p8"/>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1" name="Google Shape;101;p8"/>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2" name="Google Shape;102;p8"/>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3" name="Google Shape;103;p8"/>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4" name="Google Shape;104;p8"/>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5" name="Google Shape;105;p8"/>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6" name="Google Shape;106;p8"/>
          <p:cNvSpPr/>
          <p:nvPr>
            <p:ph idx="7" type="pic"/>
          </p:nvPr>
        </p:nvSpPr>
        <p:spPr>
          <a:xfrm>
            <a:off x="6080700" y="228600"/>
            <a:ext cx="1370400" cy="1357500"/>
          </a:xfrm>
          <a:prstGeom prst="roundRect">
            <a:avLst>
              <a:gd fmla="val 16935" name="adj"/>
            </a:avLst>
          </a:prstGeom>
          <a:noFill/>
          <a:ln>
            <a:noFill/>
          </a:ln>
        </p:spPr>
      </p:sp>
      <p:sp>
        <p:nvSpPr>
          <p:cNvPr id="107" name="Google Shape;107;p8"/>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8" name="Google Shape;108;p8"/>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9" name="Google Shape;109;p8"/>
          <p:cNvSpPr/>
          <p:nvPr>
            <p:ph idx="13" type="pic"/>
          </p:nvPr>
        </p:nvSpPr>
        <p:spPr>
          <a:xfrm>
            <a:off x="7542450" y="228600"/>
            <a:ext cx="1370400" cy="1357500"/>
          </a:xfrm>
          <a:prstGeom prst="roundRect">
            <a:avLst>
              <a:gd fmla="val 16935" name="adj"/>
            </a:avLst>
          </a:prstGeom>
          <a:noFill/>
          <a:ln>
            <a:noFill/>
          </a:ln>
        </p:spPr>
      </p:sp>
      <p:sp>
        <p:nvSpPr>
          <p:cNvPr id="110" name="Google Shape;110;p8"/>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1" name="Google Shape;111;p8"/>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2" name="Google Shape;112;p8"/>
          <p:cNvSpPr/>
          <p:nvPr>
            <p:ph idx="16" type="pic"/>
          </p:nvPr>
        </p:nvSpPr>
        <p:spPr>
          <a:xfrm>
            <a:off x="4618950" y="2295725"/>
            <a:ext cx="1370400" cy="1357500"/>
          </a:xfrm>
          <a:prstGeom prst="roundRect">
            <a:avLst>
              <a:gd fmla="val 16935" name="adj"/>
            </a:avLst>
          </a:prstGeom>
          <a:noFill/>
          <a:ln>
            <a:noFill/>
          </a:ln>
        </p:spPr>
      </p:sp>
      <p:sp>
        <p:nvSpPr>
          <p:cNvPr id="113" name="Google Shape;113;p8"/>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4" name="Google Shape;114;p8"/>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5" name="Google Shape;115;p8"/>
          <p:cNvSpPr/>
          <p:nvPr>
            <p:ph idx="19" type="pic"/>
          </p:nvPr>
        </p:nvSpPr>
        <p:spPr>
          <a:xfrm>
            <a:off x="6080700" y="2295725"/>
            <a:ext cx="1370400" cy="1357500"/>
          </a:xfrm>
          <a:prstGeom prst="roundRect">
            <a:avLst>
              <a:gd fmla="val 16935" name="adj"/>
            </a:avLst>
          </a:prstGeom>
          <a:noFill/>
          <a:ln>
            <a:noFill/>
          </a:ln>
        </p:spPr>
      </p:sp>
      <p:sp>
        <p:nvSpPr>
          <p:cNvPr id="116" name="Google Shape;116;p8"/>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7" name="Google Shape;117;p8"/>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8" name="Google Shape;118;p8"/>
          <p:cNvSpPr/>
          <p:nvPr>
            <p:ph idx="22" type="pic"/>
          </p:nvPr>
        </p:nvSpPr>
        <p:spPr>
          <a:xfrm>
            <a:off x="7542450" y="2295725"/>
            <a:ext cx="1370400" cy="1357500"/>
          </a:xfrm>
          <a:prstGeom prst="roundRect">
            <a:avLst>
              <a:gd fmla="val 16935" name="adj"/>
            </a:avLst>
          </a:prstGeom>
          <a:noFill/>
          <a:ln>
            <a:noFill/>
          </a:ln>
        </p:spPr>
      </p:sp>
      <p:sp>
        <p:nvSpPr>
          <p:cNvPr id="119" name="Google Shape;119;p8"/>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20" name="Google Shape;120;p8"/>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21" name="Google Shape;121;p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2" name="Google Shape;122;p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3" name="Google Shape;123;p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24" name="Shape 124"/>
        <p:cNvGrpSpPr/>
        <p:nvPr/>
      </p:nvGrpSpPr>
      <p:grpSpPr>
        <a:xfrm>
          <a:off x="0" y="0"/>
          <a:ext cx="0" cy="0"/>
          <a:chOff x="0" y="0"/>
          <a:chExt cx="0" cy="0"/>
        </a:xfrm>
      </p:grpSpPr>
      <p:sp>
        <p:nvSpPr>
          <p:cNvPr id="125" name="Google Shape;125;p9"/>
          <p:cNvSpPr/>
          <p:nvPr>
            <p:ph idx="2" type="pic"/>
          </p:nvPr>
        </p:nvSpPr>
        <p:spPr>
          <a:xfrm>
            <a:off x="9425" y="-3075"/>
            <a:ext cx="9144000" cy="4641000"/>
          </a:xfrm>
          <a:prstGeom prst="rect">
            <a:avLst/>
          </a:prstGeom>
          <a:noFill/>
          <a:ln>
            <a:noFill/>
          </a:ln>
        </p:spPr>
      </p:sp>
      <p:sp>
        <p:nvSpPr>
          <p:cNvPr id="126" name="Google Shape;126;p9"/>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27" name="Google Shape;127;p9"/>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28" name="Google Shape;128;p9"/>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9" name="Google Shape;129;p9"/>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0" name="Google Shape;130;p9"/>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31" name="Google Shape;131;p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32" name="Google Shape;132;p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3" name="Google Shape;133;p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34" name="Shape 134"/>
        <p:cNvGrpSpPr/>
        <p:nvPr/>
      </p:nvGrpSpPr>
      <p:grpSpPr>
        <a:xfrm>
          <a:off x="0" y="0"/>
          <a:ext cx="0" cy="0"/>
          <a:chOff x="0" y="0"/>
          <a:chExt cx="0" cy="0"/>
        </a:xfrm>
      </p:grpSpPr>
      <p:sp>
        <p:nvSpPr>
          <p:cNvPr id="135" name="Google Shape;135;p10"/>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6" name="Google Shape;136;p10"/>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7" name="Google Shape;137;p10"/>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38" name="Google Shape;138;p10"/>
          <p:cNvGrpSpPr/>
          <p:nvPr/>
        </p:nvGrpSpPr>
        <p:grpSpPr>
          <a:xfrm rot="5400000">
            <a:off x="8691475" y="228504"/>
            <a:ext cx="228589" cy="228623"/>
            <a:chOff x="1688332" y="4135245"/>
            <a:chExt cx="338700" cy="338700"/>
          </a:xfrm>
        </p:grpSpPr>
        <p:sp>
          <p:nvSpPr>
            <p:cNvPr id="139" name="Google Shape;139;p10"/>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40" name="Google Shape;140;p10"/>
            <p:cNvGrpSpPr/>
            <p:nvPr/>
          </p:nvGrpSpPr>
          <p:grpSpPr>
            <a:xfrm rot="-5400000">
              <a:off x="1787014" y="4262191"/>
              <a:ext cx="169598" cy="84809"/>
              <a:chOff x="498725" y="2069800"/>
              <a:chExt cx="205200" cy="102600"/>
            </a:xfrm>
          </p:grpSpPr>
          <p:cxnSp>
            <p:nvCxnSpPr>
              <p:cNvPr id="141" name="Google Shape;141;p10"/>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42" name="Google Shape;142;p10"/>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43" name="Google Shape;143;p10"/>
          <p:cNvSpPr/>
          <p:nvPr>
            <p:ph idx="4" type="pic"/>
          </p:nvPr>
        </p:nvSpPr>
        <p:spPr>
          <a:xfrm>
            <a:off x="426700" y="1896600"/>
            <a:ext cx="665400" cy="685500"/>
          </a:xfrm>
          <a:prstGeom prst="roundRect">
            <a:avLst>
              <a:gd fmla="val 17601" name="adj"/>
            </a:avLst>
          </a:prstGeom>
          <a:noFill/>
          <a:ln>
            <a:noFill/>
          </a:ln>
        </p:spPr>
      </p:sp>
      <p:sp>
        <p:nvSpPr>
          <p:cNvPr id="144" name="Google Shape;144;p10"/>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5" name="Google Shape;145;p10"/>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6" name="Google Shape;146;p10"/>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7" name="Google Shape;147;p10"/>
          <p:cNvSpPr/>
          <p:nvPr>
            <p:ph idx="8" type="pic"/>
          </p:nvPr>
        </p:nvSpPr>
        <p:spPr>
          <a:xfrm>
            <a:off x="2621800" y="1896600"/>
            <a:ext cx="665400" cy="685500"/>
          </a:xfrm>
          <a:prstGeom prst="roundRect">
            <a:avLst>
              <a:gd fmla="val 17601" name="adj"/>
            </a:avLst>
          </a:prstGeom>
          <a:noFill/>
          <a:ln>
            <a:noFill/>
          </a:ln>
        </p:spPr>
      </p:sp>
      <p:sp>
        <p:nvSpPr>
          <p:cNvPr id="148" name="Google Shape;148;p10"/>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9" name="Google Shape;149;p10"/>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0" name="Google Shape;150;p10"/>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51" name="Google Shape;151;p10"/>
          <p:cNvSpPr/>
          <p:nvPr>
            <p:ph idx="15" type="pic"/>
          </p:nvPr>
        </p:nvSpPr>
        <p:spPr>
          <a:xfrm>
            <a:off x="4816900" y="1896600"/>
            <a:ext cx="665400" cy="685500"/>
          </a:xfrm>
          <a:prstGeom prst="roundRect">
            <a:avLst>
              <a:gd fmla="val 17601" name="adj"/>
            </a:avLst>
          </a:prstGeom>
          <a:noFill/>
          <a:ln>
            <a:noFill/>
          </a:ln>
        </p:spPr>
      </p:sp>
      <p:sp>
        <p:nvSpPr>
          <p:cNvPr id="152" name="Google Shape;152;p10"/>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3" name="Google Shape;153;p10"/>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4" name="Google Shape;154;p10"/>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55" name="Google Shape;155;p10"/>
          <p:cNvSpPr/>
          <p:nvPr>
            <p:ph idx="19" type="pic"/>
          </p:nvPr>
        </p:nvSpPr>
        <p:spPr>
          <a:xfrm>
            <a:off x="7012000" y="1896600"/>
            <a:ext cx="665400" cy="685500"/>
          </a:xfrm>
          <a:prstGeom prst="roundRect">
            <a:avLst>
              <a:gd fmla="val 17601" name="adj"/>
            </a:avLst>
          </a:prstGeom>
          <a:noFill/>
          <a:ln>
            <a:noFill/>
          </a:ln>
        </p:spPr>
      </p:sp>
      <p:sp>
        <p:nvSpPr>
          <p:cNvPr id="156" name="Google Shape;156;p10"/>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7" name="Google Shape;157;p10"/>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8" name="Google Shape;158;p10"/>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159" name="Google Shape;159;p1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60" name="Google Shape;160;p1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1" name="Google Shape;161;p1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162" name="Shape 162"/>
        <p:cNvGrpSpPr/>
        <p:nvPr/>
      </p:nvGrpSpPr>
      <p:grpSpPr>
        <a:xfrm>
          <a:off x="0" y="0"/>
          <a:ext cx="0" cy="0"/>
          <a:chOff x="0" y="0"/>
          <a:chExt cx="0" cy="0"/>
        </a:xfrm>
      </p:grpSpPr>
      <p:pic>
        <p:nvPicPr>
          <p:cNvPr descr="Oval black shapes against a shadowy background. " id="163" name="Google Shape;163;p11"/>
          <p:cNvPicPr preferRelativeResize="0"/>
          <p:nvPr/>
        </p:nvPicPr>
        <p:blipFill rotWithShape="1">
          <a:blip r:embed="rId2">
            <a:alphaModFix/>
          </a:blip>
          <a:srcRect b="42245" l="17240" r="25038" t="34"/>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164" name="Google Shape;164;p11"/>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65" name="Google Shape;165;p11"/>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6" name="Google Shape;166;p11"/>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7" name="Google Shape;167;p11"/>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8" name="Google Shape;168;p11"/>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69" name="Google Shape;169;p1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170" name="Google Shape;170;p11"/>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171" name="Google Shape;171;p11"/>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172" name="Google Shape;172;p1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3" name="Google Shape;173;p1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174" name="Shape 174"/>
        <p:cNvGrpSpPr/>
        <p:nvPr/>
      </p:nvGrpSpPr>
      <p:grpSpPr>
        <a:xfrm>
          <a:off x="0" y="0"/>
          <a:ext cx="0" cy="0"/>
          <a:chOff x="0" y="0"/>
          <a:chExt cx="0" cy="0"/>
        </a:xfrm>
      </p:grpSpPr>
      <p:sp>
        <p:nvSpPr>
          <p:cNvPr id="175" name="Google Shape;175;p12"/>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176" name="Google Shape;176;p12"/>
          <p:cNvSpPr/>
          <p:nvPr>
            <p:ph idx="2" type="pic"/>
          </p:nvPr>
        </p:nvSpPr>
        <p:spPr>
          <a:xfrm>
            <a:off x="5342000" y="457200"/>
            <a:ext cx="3573300" cy="3995400"/>
          </a:xfrm>
          <a:prstGeom prst="roundRect">
            <a:avLst>
              <a:gd fmla="val 6865" name="adj"/>
            </a:avLst>
          </a:prstGeom>
          <a:noFill/>
          <a:ln>
            <a:noFill/>
          </a:ln>
        </p:spPr>
      </p:sp>
      <p:sp>
        <p:nvSpPr>
          <p:cNvPr id="177" name="Google Shape;177;p12"/>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8" name="Google Shape;178;p12"/>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9" name="Google Shape;179;p12"/>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80" name="Google Shape;180;p12"/>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181" name="Google Shape;181;p12"/>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182" name="Google Shape;182;p1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83" name="Google Shape;183;p1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4" name="Google Shape;184;p1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185" name="Shape 185"/>
        <p:cNvGrpSpPr/>
        <p:nvPr/>
      </p:nvGrpSpPr>
      <p:grpSpPr>
        <a:xfrm>
          <a:off x="0" y="0"/>
          <a:ext cx="0" cy="0"/>
          <a:chOff x="0" y="0"/>
          <a:chExt cx="0" cy="0"/>
        </a:xfrm>
      </p:grpSpPr>
      <p:sp>
        <p:nvSpPr>
          <p:cNvPr id="186" name="Google Shape;186;p13"/>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187" name="Google Shape;187;p13"/>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8" name="Google Shape;188;p13"/>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89" name="Google Shape;189;p13"/>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190" name="Google Shape;190;p13"/>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91" name="Google Shape;191;p13"/>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92" name="Google Shape;192;p13"/>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193" name="Google Shape;193;p13"/>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4" name="Google Shape;194;p13"/>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5" name="Google Shape;195;p13"/>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6" name="Google Shape;196;p13"/>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7" name="Google Shape;197;p13"/>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98" name="Google Shape;198;p1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199" name="Google Shape;199;p13"/>
          <p:cNvGrpSpPr/>
          <p:nvPr/>
        </p:nvGrpSpPr>
        <p:grpSpPr>
          <a:xfrm rot="-5400000">
            <a:off x="4794488" y="4206993"/>
            <a:ext cx="141588" cy="73485"/>
            <a:chOff x="498725" y="2069800"/>
            <a:chExt cx="205200" cy="106500"/>
          </a:xfrm>
        </p:grpSpPr>
        <p:cxnSp>
          <p:nvCxnSpPr>
            <p:cNvPr id="200" name="Google Shape;200;p13"/>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201" name="Google Shape;201;p13"/>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02" name="Google Shape;202;p1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3" name="Google Shape;203;p1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04" name="Shape 204"/>
        <p:cNvGrpSpPr/>
        <p:nvPr/>
      </p:nvGrpSpPr>
      <p:grpSpPr>
        <a:xfrm>
          <a:off x="0" y="0"/>
          <a:ext cx="0" cy="0"/>
          <a:chOff x="0" y="0"/>
          <a:chExt cx="0" cy="0"/>
        </a:xfrm>
      </p:grpSpPr>
      <p:sp>
        <p:nvSpPr>
          <p:cNvPr id="205" name="Google Shape;205;p14"/>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06" name="Google Shape;206;p14"/>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7" name="Google Shape;207;p14"/>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8" name="Google Shape;208;p14"/>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09" name="Google Shape;209;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10" name="Google Shape;210;p14"/>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1" name="Google Shape;211;p14"/>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2" name="Google Shape;212;p14"/>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3" name="Google Shape;213;p14"/>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4" name="Google Shape;214;p14"/>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5" name="Google Shape;215;p14"/>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6" name="Google Shape;216;p14"/>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7" name="Google Shape;217;p14"/>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8" name="Google Shape;218;p14"/>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9" name="Google Shape;219;p14"/>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20" name="Google Shape;220;p14"/>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21" name="Google Shape;221;p14"/>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22" name="Google Shape;222;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3" name="Google Shape;223;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24" name="Shape 224"/>
        <p:cNvGrpSpPr/>
        <p:nvPr/>
      </p:nvGrpSpPr>
      <p:grpSpPr>
        <a:xfrm>
          <a:off x="0" y="0"/>
          <a:ext cx="0" cy="0"/>
          <a:chOff x="0" y="0"/>
          <a:chExt cx="0" cy="0"/>
        </a:xfrm>
      </p:grpSpPr>
      <p:pic>
        <p:nvPicPr>
          <p:cNvPr id="225" name="Google Shape;225;p15"/>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26" name="Google Shape;226;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7" name="Google Shape;227;p15"/>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8" name="Google Shape;228;p15"/>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9" name="Google Shape;229;p15"/>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30" name="Google Shape;230;p15"/>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31" name="Google Shape;231;p15"/>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2" name="Google Shape;232;p15"/>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3" name="Google Shape;233;p15"/>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4" name="Google Shape;234;p15"/>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5" name="Google Shape;235;p15"/>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6" name="Google Shape;236;p15"/>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7" name="Google Shape;237;p15"/>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8" name="Google Shape;238;p15"/>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9" name="Google Shape;239;p15"/>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40" name="Google Shape;240;p15"/>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41" name="Google Shape;241;p15"/>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42" name="Google Shape;242;p15"/>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43" name="Google Shape;243;p15"/>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44" name="Google Shape;244;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5" name="Google Shape;245;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46" name="Shape 246"/>
        <p:cNvGrpSpPr/>
        <p:nvPr/>
      </p:nvGrpSpPr>
      <p:grpSpPr>
        <a:xfrm>
          <a:off x="0" y="0"/>
          <a:ext cx="0" cy="0"/>
          <a:chOff x="0" y="0"/>
          <a:chExt cx="0" cy="0"/>
        </a:xfrm>
      </p:grpSpPr>
      <p:sp>
        <p:nvSpPr>
          <p:cNvPr id="247" name="Google Shape;247;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48" name="Google Shape;248;p16"/>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49" name="Google Shape;249;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0" name="Google Shape;250;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1" name="Google Shape;251;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2" name="Google Shape;252;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3" name="Google Shape;253;p16"/>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54" name="Google Shape;254;p16"/>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55" name="Google Shape;255;p16"/>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56" name="Google Shape;256;p16"/>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257" name="Google Shape;257;p16"/>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258" name="Google Shape;258;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59" name="Google Shape;259;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260" name="Shape 260"/>
        <p:cNvGrpSpPr/>
        <p:nvPr/>
      </p:nvGrpSpPr>
      <p:grpSpPr>
        <a:xfrm>
          <a:off x="0" y="0"/>
          <a:ext cx="0" cy="0"/>
          <a:chOff x="0" y="0"/>
          <a:chExt cx="0" cy="0"/>
        </a:xfrm>
      </p:grpSpPr>
      <p:sp>
        <p:nvSpPr>
          <p:cNvPr id="261" name="Google Shape;261;p1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2" name="Google Shape;262;p1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3" name="Google Shape;263;p1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64" name="Google Shape;264;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65" name="Google Shape;265;p17"/>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17"/>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7" name="Google Shape;267;p17"/>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8" name="Google Shape;268;p17"/>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9" name="Google Shape;269;p17"/>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270" name="Google Shape;270;p17"/>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271" name="Google Shape;271;p17"/>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272" name="Google Shape;272;p17"/>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3" name="Google Shape;273;p17"/>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274" name="Google Shape;274;p17"/>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275" name="Google Shape;275;p17"/>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276" name="Google Shape;276;p17"/>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7" name="Google Shape;277;p17"/>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78" name="Google Shape;278;p17"/>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9" name="Google Shape;279;p17"/>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80" name="Google Shape;280;p17"/>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81" name="Google Shape;281;p17"/>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82" name="Google Shape;282;p17"/>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3" name="Google Shape;283;p17"/>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4" name="Google Shape;284;p17"/>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5" name="Google Shape;285;p17"/>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6" name="Google Shape;286;p17"/>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7" name="Google Shape;287;p17"/>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88" name="Google Shape;288;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9" name="Google Shape;289;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290" name="Shape 290"/>
        <p:cNvGrpSpPr/>
        <p:nvPr/>
      </p:nvGrpSpPr>
      <p:grpSpPr>
        <a:xfrm>
          <a:off x="0" y="0"/>
          <a:ext cx="0" cy="0"/>
          <a:chOff x="0" y="0"/>
          <a:chExt cx="0" cy="0"/>
        </a:xfrm>
      </p:grpSpPr>
      <p:sp>
        <p:nvSpPr>
          <p:cNvPr id="291" name="Google Shape;291;p18"/>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92" name="Google Shape;292;p18"/>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3" name="Google Shape;293;p18"/>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294" name="Google Shape;294;p18"/>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5" name="Google Shape;295;p18"/>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296" name="Google Shape;296;p18"/>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7" name="Google Shape;297;p18"/>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8" name="Google Shape;298;p18"/>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9" name="Google Shape;299;p18"/>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00" name="Google Shape;300;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01" name="Google Shape;301;p18"/>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02" name="Google Shape;302;p18"/>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3" name="Google Shape;303;p18"/>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04" name="Google Shape;304;p18"/>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5" name="Google Shape;305;p18"/>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6" name="Google Shape;306;p18"/>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7" name="Google Shape;307;p18"/>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8" name="Google Shape;308;p18"/>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9" name="Google Shape;309;p18"/>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10" name="Google Shape;310;p18"/>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11" name="Google Shape;311;p18"/>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2" name="Google Shape;312;p18"/>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3" name="Google Shape;313;p18"/>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4" name="Google Shape;314;p18"/>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5" name="Google Shape;315;p18"/>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16" name="Google Shape;316;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7" name="Google Shape;317;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18" name="Shape 318"/>
        <p:cNvGrpSpPr/>
        <p:nvPr/>
      </p:nvGrpSpPr>
      <p:grpSpPr>
        <a:xfrm>
          <a:off x="0" y="0"/>
          <a:ext cx="0" cy="0"/>
          <a:chOff x="0" y="0"/>
          <a:chExt cx="0" cy="0"/>
        </a:xfrm>
      </p:grpSpPr>
      <p:sp>
        <p:nvSpPr>
          <p:cNvPr id="319" name="Google Shape;319;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20" name="Google Shape;320;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21" name="Google Shape;321;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22" name="Google Shape;322;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23" name="Google Shape;323;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4" name="Google Shape;324;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5" name="Google Shape;325;p19"/>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6" name="Google Shape;326;p19"/>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7" name="Google Shape;327;p19"/>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28" name="Google Shape;328;p19"/>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29" name="Google Shape;329;p19"/>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30" name="Google Shape;330;p19"/>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31" name="Google Shape;331;p19"/>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2" name="Google Shape;332;p19"/>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3" name="Google Shape;333;p19"/>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4" name="Google Shape;334;p19"/>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5" name="Shape 335"/>
        <p:cNvGrpSpPr/>
        <p:nvPr/>
      </p:nvGrpSpPr>
      <p:grpSpPr>
        <a:xfrm>
          <a:off x="0" y="0"/>
          <a:ext cx="0" cy="0"/>
          <a:chOff x="0" y="0"/>
          <a:chExt cx="0" cy="0"/>
        </a:xfrm>
      </p:grpSpPr>
      <p:sp>
        <p:nvSpPr>
          <p:cNvPr id="336" name="Google Shape;336;p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7" name="Google Shape;337;p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8" name="Shape 338"/>
        <p:cNvGrpSpPr/>
        <p:nvPr/>
      </p:nvGrpSpPr>
      <p:grpSpPr>
        <a:xfrm>
          <a:off x="0" y="0"/>
          <a:ext cx="0" cy="0"/>
          <a:chOff x="0" y="0"/>
          <a:chExt cx="0" cy="0"/>
        </a:xfrm>
      </p:grpSpPr>
      <p:sp>
        <p:nvSpPr>
          <p:cNvPr id="339" name="Google Shape;339;p2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40" name="Shape 340"/>
        <p:cNvGrpSpPr/>
        <p:nvPr/>
      </p:nvGrpSpPr>
      <p:grpSpPr>
        <a:xfrm>
          <a:off x="0" y="0"/>
          <a:ext cx="0" cy="0"/>
          <a:chOff x="0" y="0"/>
          <a:chExt cx="0" cy="0"/>
        </a:xfrm>
      </p:grpSpPr>
      <p:sp>
        <p:nvSpPr>
          <p:cNvPr id="341" name="Google Shape;341;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2" name="Google Shape;342;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3" name="Shape 343"/>
        <p:cNvGrpSpPr/>
        <p:nvPr/>
      </p:nvGrpSpPr>
      <p:grpSpPr>
        <a:xfrm>
          <a:off x="0" y="0"/>
          <a:ext cx="0" cy="0"/>
          <a:chOff x="0" y="0"/>
          <a:chExt cx="0" cy="0"/>
        </a:xfrm>
      </p:grpSpPr>
      <p:sp>
        <p:nvSpPr>
          <p:cNvPr id="344" name="Google Shape;344;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5" name="Google Shape;345;p2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6" name="Google Shape;346;p23"/>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7" name="Shape 347"/>
        <p:cNvGrpSpPr/>
        <p:nvPr/>
      </p:nvGrpSpPr>
      <p:grpSpPr>
        <a:xfrm>
          <a:off x="0" y="0"/>
          <a:ext cx="0" cy="0"/>
          <a:chOff x="0" y="0"/>
          <a:chExt cx="0" cy="0"/>
        </a:xfrm>
      </p:grpSpPr>
      <p:sp>
        <p:nvSpPr>
          <p:cNvPr id="348" name="Google Shape;348;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9" name="Shape 349"/>
        <p:cNvGrpSpPr/>
        <p:nvPr/>
      </p:nvGrpSpPr>
      <p:grpSpPr>
        <a:xfrm>
          <a:off x="0" y="0"/>
          <a:ext cx="0" cy="0"/>
          <a:chOff x="0" y="0"/>
          <a:chExt cx="0" cy="0"/>
        </a:xfrm>
      </p:grpSpPr>
      <p:sp>
        <p:nvSpPr>
          <p:cNvPr id="350" name="Google Shape;350;p2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1" name="Google Shape;351;p2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2" name="Shape 352"/>
        <p:cNvGrpSpPr/>
        <p:nvPr/>
      </p:nvGrpSpPr>
      <p:grpSpPr>
        <a:xfrm>
          <a:off x="0" y="0"/>
          <a:ext cx="0" cy="0"/>
          <a:chOff x="0" y="0"/>
          <a:chExt cx="0" cy="0"/>
        </a:xfrm>
      </p:grpSpPr>
      <p:sp>
        <p:nvSpPr>
          <p:cNvPr id="353" name="Google Shape;353;p2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4" name="Shape 354"/>
        <p:cNvGrpSpPr/>
        <p:nvPr/>
      </p:nvGrpSpPr>
      <p:grpSpPr>
        <a:xfrm>
          <a:off x="0" y="0"/>
          <a:ext cx="0" cy="0"/>
          <a:chOff x="0" y="0"/>
          <a:chExt cx="0" cy="0"/>
        </a:xfrm>
      </p:grpSpPr>
      <p:sp>
        <p:nvSpPr>
          <p:cNvPr id="355" name="Google Shape;355;p2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6" name="Google Shape;356;p2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7" name="Google Shape;357;p2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8" name="Shape 358"/>
        <p:cNvGrpSpPr/>
        <p:nvPr/>
      </p:nvGrpSpPr>
      <p:grpSpPr>
        <a:xfrm>
          <a:off x="0" y="0"/>
          <a:ext cx="0" cy="0"/>
          <a:chOff x="0" y="0"/>
          <a:chExt cx="0" cy="0"/>
        </a:xfrm>
      </p:grpSpPr>
      <p:sp>
        <p:nvSpPr>
          <p:cNvPr id="359" name="Google Shape;359;p28"/>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60" name="Shape 360"/>
        <p:cNvGrpSpPr/>
        <p:nvPr/>
      </p:nvGrpSpPr>
      <p:grpSpPr>
        <a:xfrm>
          <a:off x="0" y="0"/>
          <a:ext cx="0" cy="0"/>
          <a:chOff x="0" y="0"/>
          <a:chExt cx="0" cy="0"/>
        </a:xfrm>
      </p:grpSpPr>
      <p:sp>
        <p:nvSpPr>
          <p:cNvPr id="361" name="Google Shape;361;p2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2" name="Google Shape;362;p29"/>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3" name="Shape 363"/>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4" name="Shape 364"/>
        <p:cNvGrpSpPr/>
        <p:nvPr/>
      </p:nvGrpSpPr>
      <p:grpSpPr>
        <a:xfrm>
          <a:off x="0" y="0"/>
          <a:ext cx="0" cy="0"/>
          <a:chOff x="0" y="0"/>
          <a:chExt cx="0" cy="0"/>
        </a:xfrm>
      </p:grpSpPr>
      <p:sp>
        <p:nvSpPr>
          <p:cNvPr id="365" name="Google Shape;365;p3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6" name="Google Shape;366;p3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0" name="Google Shape;370;p3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1" name="Google Shape;371;p3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2" name="Shape 372"/>
        <p:cNvGrpSpPr/>
        <p:nvPr/>
      </p:nvGrpSpPr>
      <p:grpSpPr>
        <a:xfrm>
          <a:off x="0" y="0"/>
          <a:ext cx="0" cy="0"/>
          <a:chOff x="0" y="0"/>
          <a:chExt cx="0" cy="0"/>
        </a:xfrm>
      </p:grpSpPr>
      <p:sp>
        <p:nvSpPr>
          <p:cNvPr id="373" name="Google Shape;373;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4" name="Google Shape;374;p3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5" name="Google Shape;375;p3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6" name="Shape 376"/>
        <p:cNvGrpSpPr/>
        <p:nvPr/>
      </p:nvGrpSpPr>
      <p:grpSpPr>
        <a:xfrm>
          <a:off x="0" y="0"/>
          <a:ext cx="0" cy="0"/>
          <a:chOff x="0" y="0"/>
          <a:chExt cx="0" cy="0"/>
        </a:xfrm>
      </p:grpSpPr>
      <p:sp>
        <p:nvSpPr>
          <p:cNvPr id="377" name="Google Shape;377;p3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8" name="Google Shape;378;p3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9" name="Google Shape;379;p3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3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1" name="Google Shape;381;p3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2" name="Shape 382"/>
        <p:cNvGrpSpPr/>
        <p:nvPr/>
      </p:nvGrpSpPr>
      <p:grpSpPr>
        <a:xfrm>
          <a:off x="0" y="0"/>
          <a:ext cx="0" cy="0"/>
          <a:chOff x="0" y="0"/>
          <a:chExt cx="0" cy="0"/>
        </a:xfrm>
      </p:grpSpPr>
      <p:sp>
        <p:nvSpPr>
          <p:cNvPr id="383" name="Google Shape;383;p3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84" name="Google Shape;384;p3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5" name="Google Shape;385;p3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6" name="Google Shape;386;p3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3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8" name="Google Shape;388;p3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9" name="Google Shape;389;p3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90" name="Shape 390"/>
        <p:cNvGrpSpPr/>
        <p:nvPr/>
      </p:nvGrpSpPr>
      <p:grpSpPr>
        <a:xfrm>
          <a:off x="0" y="0"/>
          <a:ext cx="0" cy="0"/>
          <a:chOff x="0" y="0"/>
          <a:chExt cx="0" cy="0"/>
        </a:xfrm>
      </p:grpSpPr>
      <p:sp>
        <p:nvSpPr>
          <p:cNvPr id="391" name="Google Shape;391;p3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2" name="Google Shape;392;p3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3" name="Google Shape;393;p3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4" name="Google Shape;394;p3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5" name="Google Shape;395;p3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6" name="Google Shape;396;p3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3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3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9" name="Google Shape;399;p3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00" name="Shape 400"/>
        <p:cNvGrpSpPr/>
        <p:nvPr/>
      </p:nvGrpSpPr>
      <p:grpSpPr>
        <a:xfrm>
          <a:off x="0" y="0"/>
          <a:ext cx="0" cy="0"/>
          <a:chOff x="0" y="0"/>
          <a:chExt cx="0" cy="0"/>
        </a:xfrm>
      </p:grpSpPr>
      <p:sp>
        <p:nvSpPr>
          <p:cNvPr id="401" name="Google Shape;401;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2" name="Google Shape;402;p3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3" name="Shape 403"/>
        <p:cNvGrpSpPr/>
        <p:nvPr/>
      </p:nvGrpSpPr>
      <p:grpSpPr>
        <a:xfrm>
          <a:off x="0" y="0"/>
          <a:ext cx="0" cy="0"/>
          <a:chOff x="0" y="0"/>
          <a:chExt cx="0" cy="0"/>
        </a:xfrm>
      </p:grpSpPr>
      <p:sp>
        <p:nvSpPr>
          <p:cNvPr id="404" name="Google Shape;404;p3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5" name="Google Shape;405;p37"/>
          <p:cNvSpPr/>
          <p:nvPr>
            <p:ph idx="2" type="pic"/>
          </p:nvPr>
        </p:nvSpPr>
        <p:spPr>
          <a:xfrm>
            <a:off x="4804825" y="1133300"/>
            <a:ext cx="4027500" cy="2392800"/>
          </a:xfrm>
          <a:prstGeom prst="rect">
            <a:avLst/>
          </a:prstGeom>
          <a:noFill/>
          <a:ln>
            <a:noFill/>
          </a:ln>
        </p:spPr>
      </p:sp>
      <p:sp>
        <p:nvSpPr>
          <p:cNvPr id="406" name="Google Shape;406;p37"/>
          <p:cNvSpPr/>
          <p:nvPr>
            <p:ph idx="3" type="pic"/>
          </p:nvPr>
        </p:nvSpPr>
        <p:spPr>
          <a:xfrm>
            <a:off x="311725" y="1133300"/>
            <a:ext cx="4027500" cy="2392800"/>
          </a:xfrm>
          <a:prstGeom prst="rect">
            <a:avLst/>
          </a:prstGeom>
          <a:noFill/>
          <a:ln>
            <a:noFill/>
          </a:ln>
        </p:spPr>
      </p:sp>
      <p:sp>
        <p:nvSpPr>
          <p:cNvPr id="407" name="Google Shape;407;p3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8" name="Google Shape;408;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9" name="Google Shape;409;p3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0" name="Google Shape;410;p3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11" name="Shape 411"/>
        <p:cNvGrpSpPr/>
        <p:nvPr/>
      </p:nvGrpSpPr>
      <p:grpSpPr>
        <a:xfrm>
          <a:off x="0" y="0"/>
          <a:ext cx="0" cy="0"/>
          <a:chOff x="0" y="0"/>
          <a:chExt cx="0" cy="0"/>
        </a:xfrm>
      </p:grpSpPr>
      <p:sp>
        <p:nvSpPr>
          <p:cNvPr id="412" name="Google Shape;412;p3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3" name="Google Shape;413;p38"/>
          <p:cNvSpPr/>
          <p:nvPr>
            <p:ph idx="2" type="pic"/>
          </p:nvPr>
        </p:nvSpPr>
        <p:spPr>
          <a:xfrm>
            <a:off x="6205225" y="1128325"/>
            <a:ext cx="2627100" cy="2273100"/>
          </a:xfrm>
          <a:prstGeom prst="rect">
            <a:avLst/>
          </a:prstGeom>
          <a:noFill/>
          <a:ln>
            <a:noFill/>
          </a:ln>
        </p:spPr>
      </p:sp>
      <p:sp>
        <p:nvSpPr>
          <p:cNvPr id="414" name="Google Shape;414;p38"/>
          <p:cNvSpPr/>
          <p:nvPr>
            <p:ph idx="3" type="pic"/>
          </p:nvPr>
        </p:nvSpPr>
        <p:spPr>
          <a:xfrm>
            <a:off x="311725" y="1128325"/>
            <a:ext cx="2627100" cy="2273100"/>
          </a:xfrm>
          <a:prstGeom prst="rect">
            <a:avLst/>
          </a:prstGeom>
          <a:noFill/>
          <a:ln>
            <a:noFill/>
          </a:ln>
        </p:spPr>
      </p:sp>
      <p:sp>
        <p:nvSpPr>
          <p:cNvPr id="415" name="Google Shape;415;p3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6" name="Google Shape;416;p38"/>
          <p:cNvSpPr/>
          <p:nvPr>
            <p:ph idx="5" type="pic"/>
          </p:nvPr>
        </p:nvSpPr>
        <p:spPr>
          <a:xfrm>
            <a:off x="3255250" y="1128325"/>
            <a:ext cx="2627100" cy="2273100"/>
          </a:xfrm>
          <a:prstGeom prst="rect">
            <a:avLst/>
          </a:prstGeom>
          <a:noFill/>
          <a:ln>
            <a:noFill/>
          </a:ln>
        </p:spPr>
      </p:sp>
      <p:sp>
        <p:nvSpPr>
          <p:cNvPr id="417" name="Google Shape;417;p3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8" name="Google Shape;418;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9" name="Google Shape;419;p3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0" name="Google Shape;420;p3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1" name="Google Shape;421;p3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2" name="Shape 422"/>
        <p:cNvGrpSpPr/>
        <p:nvPr/>
      </p:nvGrpSpPr>
      <p:grpSpPr>
        <a:xfrm>
          <a:off x="0" y="0"/>
          <a:ext cx="0" cy="0"/>
          <a:chOff x="0" y="0"/>
          <a:chExt cx="0" cy="0"/>
        </a:xfrm>
      </p:grpSpPr>
      <p:sp>
        <p:nvSpPr>
          <p:cNvPr id="423" name="Google Shape;423;p3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4" name="Shape 424"/>
        <p:cNvGrpSpPr/>
        <p:nvPr/>
      </p:nvGrpSpPr>
      <p:grpSpPr>
        <a:xfrm>
          <a:off x="0" y="0"/>
          <a:ext cx="0" cy="0"/>
          <a:chOff x="0" y="0"/>
          <a:chExt cx="0" cy="0"/>
        </a:xfrm>
      </p:grpSpPr>
      <p:sp>
        <p:nvSpPr>
          <p:cNvPr id="425" name="Google Shape;425;p40"/>
          <p:cNvSpPr/>
          <p:nvPr>
            <p:ph idx="2" type="pic"/>
          </p:nvPr>
        </p:nvSpPr>
        <p:spPr>
          <a:xfrm>
            <a:off x="3389600" y="118913"/>
            <a:ext cx="1643700" cy="1535100"/>
          </a:xfrm>
          <a:prstGeom prst="rect">
            <a:avLst/>
          </a:prstGeom>
          <a:noFill/>
          <a:ln>
            <a:noFill/>
          </a:ln>
        </p:spPr>
      </p:sp>
      <p:sp>
        <p:nvSpPr>
          <p:cNvPr id="426" name="Google Shape;426;p40"/>
          <p:cNvSpPr/>
          <p:nvPr>
            <p:ph idx="3" type="pic"/>
          </p:nvPr>
        </p:nvSpPr>
        <p:spPr>
          <a:xfrm>
            <a:off x="5195935" y="118913"/>
            <a:ext cx="1643700" cy="1535100"/>
          </a:xfrm>
          <a:prstGeom prst="rect">
            <a:avLst/>
          </a:prstGeom>
          <a:noFill/>
          <a:ln>
            <a:noFill/>
          </a:ln>
        </p:spPr>
      </p:sp>
      <p:sp>
        <p:nvSpPr>
          <p:cNvPr id="427" name="Google Shape;427;p40"/>
          <p:cNvSpPr/>
          <p:nvPr>
            <p:ph idx="4" type="pic"/>
          </p:nvPr>
        </p:nvSpPr>
        <p:spPr>
          <a:xfrm>
            <a:off x="7002270" y="118913"/>
            <a:ext cx="1643700" cy="1535100"/>
          </a:xfrm>
          <a:prstGeom prst="rect">
            <a:avLst/>
          </a:prstGeom>
          <a:noFill/>
          <a:ln>
            <a:noFill/>
          </a:ln>
        </p:spPr>
      </p:sp>
      <p:sp>
        <p:nvSpPr>
          <p:cNvPr id="428" name="Google Shape;428;p40"/>
          <p:cNvSpPr/>
          <p:nvPr>
            <p:ph idx="5" type="pic"/>
          </p:nvPr>
        </p:nvSpPr>
        <p:spPr>
          <a:xfrm>
            <a:off x="3389588" y="1804212"/>
            <a:ext cx="1643700" cy="1535100"/>
          </a:xfrm>
          <a:prstGeom prst="rect">
            <a:avLst/>
          </a:prstGeom>
          <a:noFill/>
          <a:ln>
            <a:noFill/>
          </a:ln>
        </p:spPr>
      </p:sp>
      <p:sp>
        <p:nvSpPr>
          <p:cNvPr id="429" name="Google Shape;429;p40"/>
          <p:cNvSpPr/>
          <p:nvPr>
            <p:ph idx="6" type="pic"/>
          </p:nvPr>
        </p:nvSpPr>
        <p:spPr>
          <a:xfrm>
            <a:off x="5195922" y="1804212"/>
            <a:ext cx="1643700" cy="1535100"/>
          </a:xfrm>
          <a:prstGeom prst="rect">
            <a:avLst/>
          </a:prstGeom>
          <a:noFill/>
          <a:ln>
            <a:noFill/>
          </a:ln>
        </p:spPr>
      </p:sp>
      <p:sp>
        <p:nvSpPr>
          <p:cNvPr id="430" name="Google Shape;430;p40"/>
          <p:cNvSpPr/>
          <p:nvPr>
            <p:ph idx="7" type="pic"/>
          </p:nvPr>
        </p:nvSpPr>
        <p:spPr>
          <a:xfrm>
            <a:off x="7002257" y="1804212"/>
            <a:ext cx="1643700" cy="1535100"/>
          </a:xfrm>
          <a:prstGeom prst="rect">
            <a:avLst/>
          </a:prstGeom>
          <a:noFill/>
          <a:ln>
            <a:noFill/>
          </a:ln>
        </p:spPr>
      </p:sp>
      <p:sp>
        <p:nvSpPr>
          <p:cNvPr id="431" name="Google Shape;431;p4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2" name="Google Shape;432;p40"/>
          <p:cNvSpPr/>
          <p:nvPr>
            <p:ph idx="8" type="pic"/>
          </p:nvPr>
        </p:nvSpPr>
        <p:spPr>
          <a:xfrm>
            <a:off x="3389588" y="3489487"/>
            <a:ext cx="1643700" cy="1535100"/>
          </a:xfrm>
          <a:prstGeom prst="rect">
            <a:avLst/>
          </a:prstGeom>
          <a:noFill/>
          <a:ln>
            <a:noFill/>
          </a:ln>
        </p:spPr>
      </p:sp>
      <p:sp>
        <p:nvSpPr>
          <p:cNvPr id="433" name="Google Shape;433;p40"/>
          <p:cNvSpPr/>
          <p:nvPr>
            <p:ph idx="9" type="pic"/>
          </p:nvPr>
        </p:nvSpPr>
        <p:spPr>
          <a:xfrm>
            <a:off x="5195922" y="3489487"/>
            <a:ext cx="1643700" cy="1535100"/>
          </a:xfrm>
          <a:prstGeom prst="rect">
            <a:avLst/>
          </a:prstGeom>
          <a:noFill/>
          <a:ln>
            <a:noFill/>
          </a:ln>
        </p:spPr>
      </p:sp>
      <p:sp>
        <p:nvSpPr>
          <p:cNvPr id="434" name="Google Shape;434;p4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1.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7" name="Google Shape;7;p1"/>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8" name="Google Shape;8;p1"/>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9" name="Google Shape;9;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lt1"/>
                </a:solidFill>
                <a:latin typeface="Urbanist"/>
                <a:ea typeface="Urbanist"/>
                <a:cs typeface="Urbanist"/>
                <a:sym typeface="Urbanist"/>
              </a:defRPr>
            </a:lvl1pPr>
            <a:lvl2pPr lvl="1" algn="r">
              <a:buNone/>
              <a:defRPr sz="1300">
                <a:solidFill>
                  <a:schemeClr val="lt1"/>
                </a:solidFill>
                <a:latin typeface="Urbanist"/>
                <a:ea typeface="Urbanist"/>
                <a:cs typeface="Urbanist"/>
                <a:sym typeface="Urbanist"/>
              </a:defRPr>
            </a:lvl2pPr>
            <a:lvl3pPr lvl="2" algn="r">
              <a:buNone/>
              <a:defRPr sz="1300">
                <a:solidFill>
                  <a:schemeClr val="lt1"/>
                </a:solidFill>
                <a:latin typeface="Urbanist"/>
                <a:ea typeface="Urbanist"/>
                <a:cs typeface="Urbanist"/>
                <a:sym typeface="Urbanist"/>
              </a:defRPr>
            </a:lvl3pPr>
            <a:lvl4pPr lvl="3" algn="r">
              <a:buNone/>
              <a:defRPr sz="1300">
                <a:solidFill>
                  <a:schemeClr val="lt1"/>
                </a:solidFill>
                <a:latin typeface="Urbanist"/>
                <a:ea typeface="Urbanist"/>
                <a:cs typeface="Urbanist"/>
                <a:sym typeface="Urbanist"/>
              </a:defRPr>
            </a:lvl4pPr>
            <a:lvl5pPr lvl="4" algn="r">
              <a:buNone/>
              <a:defRPr sz="1300">
                <a:solidFill>
                  <a:schemeClr val="lt1"/>
                </a:solidFill>
                <a:latin typeface="Urbanist"/>
                <a:ea typeface="Urbanist"/>
                <a:cs typeface="Urbanist"/>
                <a:sym typeface="Urbanist"/>
              </a:defRPr>
            </a:lvl5pPr>
            <a:lvl6pPr lvl="5" algn="r">
              <a:buNone/>
              <a:defRPr sz="1300">
                <a:solidFill>
                  <a:schemeClr val="lt1"/>
                </a:solidFill>
                <a:latin typeface="Urbanist"/>
                <a:ea typeface="Urbanist"/>
                <a:cs typeface="Urbanist"/>
                <a:sym typeface="Urbanist"/>
              </a:defRPr>
            </a:lvl6pPr>
            <a:lvl7pPr lvl="6" algn="r">
              <a:buNone/>
              <a:defRPr sz="1300">
                <a:solidFill>
                  <a:schemeClr val="lt1"/>
                </a:solidFill>
                <a:latin typeface="Urbanist"/>
                <a:ea typeface="Urbanist"/>
                <a:cs typeface="Urbanist"/>
                <a:sym typeface="Urbanist"/>
              </a:defRPr>
            </a:lvl7pPr>
            <a:lvl8pPr lvl="7" algn="r">
              <a:buNone/>
              <a:defRPr sz="1300">
                <a:solidFill>
                  <a:schemeClr val="lt1"/>
                </a:solidFill>
                <a:latin typeface="Urbanist"/>
                <a:ea typeface="Urbanist"/>
                <a:cs typeface="Urbanist"/>
                <a:sym typeface="Urbanist"/>
              </a:defRPr>
            </a:lvl8pPr>
            <a:lvl9pPr lvl="8" algn="r">
              <a:buNone/>
              <a:defRPr sz="1300">
                <a:solidFill>
                  <a:schemeClr val="lt1"/>
                </a:solidFill>
                <a:latin typeface="Urbanist"/>
                <a:ea typeface="Urbanist"/>
                <a:cs typeface="Urbanist"/>
                <a:sym typeface="Urbanis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12.jpg"/><Relationship Id="rId5"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ppt/slides/slide5.xml"/><Relationship Id="rId4" Type="http://schemas.openxmlformats.org/officeDocument/2006/relationships/slide" Target="/ppt/slides/slide6.xml"/><Relationship Id="rId5" Type="http://schemas.openxmlformats.org/officeDocument/2006/relationships/slide" Target="/ppt/slides/slide10.xml"/><Relationship Id="rId6" Type="http://schemas.openxmlformats.org/officeDocument/2006/relationships/slide" Target="/ppt/slides/slide14.xml"/><Relationship Id="rId7" Type="http://schemas.openxmlformats.org/officeDocument/2006/relationships/slide" Target="/ppt/slides/slide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hyperlink" Target="https://github.com/kruti95/ORBITAL-ANOMALY-DETECTION" TargetMode="External"/><Relationship Id="rId4" Type="http://schemas.openxmlformats.org/officeDocument/2006/relationships/hyperlink" Target="https://github.com/kruti95/ORBITAL-ANOMALY-DETECTIO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drive.google.com/file/d/19mDd_m0IphkXYI2urHmtuI3_w8z_G6sm/view" TargetMode="External"/><Relationship Id="rId4" Type="http://schemas.openxmlformats.org/officeDocument/2006/relationships/image" Target="../media/image15.jpg"/><Relationship Id="rId5" Type="http://schemas.openxmlformats.org/officeDocument/2006/relationships/hyperlink" Target="http://drive.google.com/file/d/1zoWAmILfBp3kEErIrF9xUx0b0zZPBnrU/view" TargetMode="External"/><Relationship Id="rId6" Type="http://schemas.openxmlformats.org/officeDocument/2006/relationships/image" Target="../media/image2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2.jp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hyperlink" Target="https://github.com/kruti95/ORBITAL-ANOMALY-DETECTION/blob/main/DATATHON%20-%20ORBITAL%20DATA%20EFFECTS.ipynb" TargetMode="External"/><Relationship Id="rId4" Type="http://schemas.openxmlformats.org/officeDocument/2006/relationships/hyperlink" Target="https://github.com/kruti95/ORBITAL-ANOMALY-DETECTION/blob/main/DATATHON%20-%20ORBITAL%20DATA%20EFFECTS.ipynb"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1"/>
          <p:cNvSpPr/>
          <p:nvPr/>
        </p:nvSpPr>
        <p:spPr>
          <a:xfrm>
            <a:off x="228600" y="4113375"/>
            <a:ext cx="1399200" cy="33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Urbanist"/>
              <a:ea typeface="Urbanist"/>
              <a:cs typeface="Urbanist"/>
              <a:sym typeface="Urbanist"/>
            </a:endParaRPr>
          </a:p>
        </p:txBody>
      </p:sp>
      <p:sp>
        <p:nvSpPr>
          <p:cNvPr id="440" name="Google Shape;440;p41"/>
          <p:cNvSpPr/>
          <p:nvPr/>
        </p:nvSpPr>
        <p:spPr>
          <a:xfrm>
            <a:off x="1719175" y="4113375"/>
            <a:ext cx="1399200" cy="33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Urbanist"/>
              <a:ea typeface="Urbanist"/>
              <a:cs typeface="Urbanist"/>
              <a:sym typeface="Urbanist"/>
            </a:endParaRPr>
          </a:p>
        </p:txBody>
      </p:sp>
      <p:sp>
        <p:nvSpPr>
          <p:cNvPr id="441" name="Google Shape;441;p41"/>
          <p:cNvSpPr txBox="1"/>
          <p:nvPr>
            <p:ph type="title"/>
          </p:nvPr>
        </p:nvSpPr>
        <p:spPr>
          <a:xfrm>
            <a:off x="228600" y="168775"/>
            <a:ext cx="6196800" cy="252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sz="1200">
                <a:solidFill>
                  <a:srgbClr val="CCCCCC"/>
                </a:solidFill>
              </a:rPr>
              <a:t>SpaceAware: Enhancing Space Situational Awareness</a:t>
            </a:r>
            <a:endParaRPr sz="1200">
              <a:solidFill>
                <a:srgbClr val="CCCCCC"/>
              </a:solidFill>
            </a:endParaRPr>
          </a:p>
        </p:txBody>
      </p:sp>
      <p:sp>
        <p:nvSpPr>
          <p:cNvPr id="442" name="Google Shape;442;p41"/>
          <p:cNvSpPr txBox="1"/>
          <p:nvPr>
            <p:ph idx="1" type="subTitle"/>
          </p:nvPr>
        </p:nvSpPr>
        <p:spPr>
          <a:xfrm>
            <a:off x="297075" y="1260100"/>
            <a:ext cx="5343600" cy="1077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000">
                <a:solidFill>
                  <a:schemeClr val="lt1"/>
                </a:solidFill>
                <a:latin typeface="Urbanist Medium"/>
                <a:ea typeface="Urbanist Medium"/>
                <a:cs typeface="Urbanist Medium"/>
                <a:sym typeface="Urbanist Medium"/>
              </a:rPr>
              <a:t>Satellite Orbital Anomalies </a:t>
            </a:r>
            <a:endParaRPr sz="3000">
              <a:solidFill>
                <a:schemeClr val="lt1"/>
              </a:solidFill>
              <a:latin typeface="Urbanist Medium"/>
              <a:ea typeface="Urbanist Medium"/>
              <a:cs typeface="Urbanist Medium"/>
              <a:sym typeface="Urbanist Medium"/>
            </a:endParaRPr>
          </a:p>
        </p:txBody>
      </p:sp>
      <p:sp>
        <p:nvSpPr>
          <p:cNvPr id="443" name="Google Shape;443;p41"/>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The Stellars</a:t>
            </a:r>
            <a:endParaRPr/>
          </a:p>
        </p:txBody>
      </p:sp>
      <p:sp>
        <p:nvSpPr>
          <p:cNvPr id="444" name="Google Shape;444;p41"/>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Datathon 2025</a:t>
            </a:r>
            <a:endParaRPr/>
          </a:p>
        </p:txBody>
      </p:sp>
      <p:sp>
        <p:nvSpPr>
          <p:cNvPr id="445" name="Google Shape;445;p41"/>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Kruti Ray</a:t>
            </a:r>
            <a:endParaRPr/>
          </a:p>
        </p:txBody>
      </p:sp>
      <p:sp>
        <p:nvSpPr>
          <p:cNvPr id="446" name="Google Shape;446;p41"/>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Katia Paredes</a:t>
            </a:r>
            <a:endParaRPr/>
          </a:p>
        </p:txBody>
      </p:sp>
      <p:sp>
        <p:nvSpPr>
          <p:cNvPr id="447" name="Google Shape;447;p41"/>
          <p:cNvSpPr txBox="1"/>
          <p:nvPr>
            <p:ph idx="7" type="subTitle"/>
          </p:nvPr>
        </p:nvSpPr>
        <p:spPr>
          <a:xfrm>
            <a:off x="320616" y="1675500"/>
            <a:ext cx="4659600" cy="25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500"/>
              <a:t>Detection and Prediction</a:t>
            </a:r>
            <a:endParaRPr sz="1500"/>
          </a:p>
        </p:txBody>
      </p:sp>
      <p:sp>
        <p:nvSpPr>
          <p:cNvPr id="448" name="Google Shape;448;p41"/>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Presented by</a:t>
            </a:r>
            <a:endParaRPr/>
          </a:p>
        </p:txBody>
      </p:sp>
      <p:pic>
        <p:nvPicPr>
          <p:cNvPr id="449" name="Google Shape;449;p41"/>
          <p:cNvPicPr preferRelativeResize="0"/>
          <p:nvPr/>
        </p:nvPicPr>
        <p:blipFill>
          <a:blip r:embed="rId3">
            <a:alphaModFix/>
          </a:blip>
          <a:stretch>
            <a:fillRect/>
          </a:stretch>
        </p:blipFill>
        <p:spPr>
          <a:xfrm>
            <a:off x="6543410" y="3675075"/>
            <a:ext cx="2462490" cy="929449"/>
          </a:xfrm>
          <a:prstGeom prst="rect">
            <a:avLst/>
          </a:prstGeom>
          <a:noFill/>
          <a:ln>
            <a:noFill/>
          </a:ln>
        </p:spPr>
      </p:pic>
      <p:pic>
        <p:nvPicPr>
          <p:cNvPr id="450" name="Google Shape;450;p41"/>
          <p:cNvPicPr preferRelativeResize="0"/>
          <p:nvPr/>
        </p:nvPicPr>
        <p:blipFill>
          <a:blip r:embed="rId4">
            <a:alphaModFix/>
          </a:blip>
          <a:stretch>
            <a:fillRect/>
          </a:stretch>
        </p:blipFill>
        <p:spPr>
          <a:xfrm>
            <a:off x="7917495" y="64125"/>
            <a:ext cx="1132225" cy="1132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2"/>
          <p:cNvSpPr/>
          <p:nvPr/>
        </p:nvSpPr>
        <p:spPr>
          <a:xfrm>
            <a:off x="1929375" y="1112775"/>
            <a:ext cx="2101200" cy="33399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6" name="Google Shape;456;p42"/>
          <p:cNvSpPr/>
          <p:nvPr/>
        </p:nvSpPr>
        <p:spPr>
          <a:xfrm>
            <a:off x="4618900" y="1112850"/>
            <a:ext cx="2101200" cy="33399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pic>
        <p:nvPicPr>
          <p:cNvPr descr="A brightly-lit portrait of a smiling woman." id="457" name="Google Shape;457;p42"/>
          <p:cNvPicPr preferRelativeResize="0"/>
          <p:nvPr>
            <p:ph idx="4" type="pic"/>
          </p:nvPr>
        </p:nvPicPr>
        <p:blipFill>
          <a:blip r:embed="rId3">
            <a:alphaModFix/>
          </a:blip>
          <a:stretch>
            <a:fillRect/>
          </a:stretch>
        </p:blipFill>
        <p:spPr>
          <a:xfrm>
            <a:off x="2127475" y="1906650"/>
            <a:ext cx="665400" cy="665400"/>
          </a:xfrm>
          <a:prstGeom prst="roundRect">
            <a:avLst>
              <a:gd fmla="val 16667" name="adj"/>
            </a:avLst>
          </a:prstGeom>
        </p:spPr>
      </p:pic>
      <p:sp>
        <p:nvSpPr>
          <p:cNvPr id="458" name="Google Shape;458;p42"/>
          <p:cNvSpPr txBox="1"/>
          <p:nvPr>
            <p:ph idx="5" type="subTitle"/>
          </p:nvPr>
        </p:nvSpPr>
        <p:spPr>
          <a:xfrm>
            <a:off x="2127475" y="2708802"/>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Kruti Ray</a:t>
            </a:r>
            <a:endParaRPr/>
          </a:p>
        </p:txBody>
      </p:sp>
      <p:sp>
        <p:nvSpPr>
          <p:cNvPr id="459" name="Google Shape;459;p42"/>
          <p:cNvSpPr txBox="1"/>
          <p:nvPr>
            <p:ph idx="6" type="subTitle"/>
          </p:nvPr>
        </p:nvSpPr>
        <p:spPr>
          <a:xfrm>
            <a:off x="2127475" y="2936076"/>
            <a:ext cx="1761900" cy="16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Data Analyst and Data Visualization</a:t>
            </a:r>
            <a:endParaRPr/>
          </a:p>
        </p:txBody>
      </p:sp>
      <p:sp>
        <p:nvSpPr>
          <p:cNvPr id="460" name="Google Shape;460;p42"/>
          <p:cNvSpPr txBox="1"/>
          <p:nvPr>
            <p:ph idx="7" type="body"/>
          </p:nvPr>
        </p:nvSpPr>
        <p:spPr>
          <a:xfrm>
            <a:off x="2099025" y="3324150"/>
            <a:ext cx="1931700" cy="9651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Analyst with 3+ years of experience in product analysis, KPI reporting, and stakeholder engagement, driving data-driven decisions and process improvements.</a:t>
            </a:r>
            <a:endParaRPr/>
          </a:p>
        </p:txBody>
      </p:sp>
      <p:sp>
        <p:nvSpPr>
          <p:cNvPr id="461" name="Google Shape;461;p42"/>
          <p:cNvSpPr txBox="1"/>
          <p:nvPr>
            <p:ph idx="9" type="subTitle"/>
          </p:nvPr>
        </p:nvSpPr>
        <p:spPr>
          <a:xfrm>
            <a:off x="4817000" y="2708807"/>
            <a:ext cx="1761900" cy="228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Katia Paredes</a:t>
            </a:r>
            <a:endParaRPr/>
          </a:p>
        </p:txBody>
      </p:sp>
      <p:sp>
        <p:nvSpPr>
          <p:cNvPr id="462" name="Google Shape;462;p42"/>
          <p:cNvSpPr txBox="1"/>
          <p:nvPr>
            <p:ph idx="13" type="subTitle"/>
          </p:nvPr>
        </p:nvSpPr>
        <p:spPr>
          <a:xfrm>
            <a:off x="4817000" y="2936075"/>
            <a:ext cx="1761900" cy="163800"/>
          </a:xfrm>
          <a:prstGeom prst="rect">
            <a:avLst/>
          </a:prstGeom>
        </p:spPr>
        <p:txBody>
          <a:bodyPr anchorCtr="0" anchor="t" bIns="0" lIns="0" spcFirstLastPara="1" rIns="91425" wrap="square" tIns="0">
            <a:noAutofit/>
          </a:bodyPr>
          <a:lstStyle/>
          <a:p>
            <a:pPr indent="0" lvl="0" marL="0" marR="0" rtl="0" algn="l">
              <a:lnSpc>
                <a:spcPct val="85000"/>
              </a:lnSpc>
              <a:spcBef>
                <a:spcPts val="0"/>
              </a:spcBef>
              <a:spcAft>
                <a:spcPts val="0"/>
              </a:spcAft>
              <a:buNone/>
            </a:pPr>
            <a:r>
              <a:rPr lang="en"/>
              <a:t>P</a:t>
            </a:r>
            <a:r>
              <a:rPr lang="en"/>
              <a:t>roject Lead and Data Visualization </a:t>
            </a:r>
            <a:endParaRPr/>
          </a:p>
        </p:txBody>
      </p:sp>
      <p:sp>
        <p:nvSpPr>
          <p:cNvPr id="463" name="Google Shape;463;p42"/>
          <p:cNvSpPr txBox="1"/>
          <p:nvPr>
            <p:ph idx="14" type="body"/>
          </p:nvPr>
        </p:nvSpPr>
        <p:spPr>
          <a:xfrm>
            <a:off x="4798750" y="3324150"/>
            <a:ext cx="1741500" cy="9651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None/>
            </a:pPr>
            <a:r>
              <a:rPr lang="en"/>
              <a:t>P</a:t>
            </a:r>
            <a:r>
              <a:rPr lang="en"/>
              <a:t>roject manager with 7+ years of market research experience delivering data-driven solutions supporting  business growth.</a:t>
            </a:r>
            <a:endParaRPr/>
          </a:p>
        </p:txBody>
      </p:sp>
      <p:sp>
        <p:nvSpPr>
          <p:cNvPr id="464" name="Google Shape;464;p42"/>
          <p:cNvSpPr txBox="1"/>
          <p:nvPr>
            <p:ph idx="4294967295" type="title"/>
          </p:nvPr>
        </p:nvSpPr>
        <p:spPr>
          <a:xfrm>
            <a:off x="228600" y="377250"/>
            <a:ext cx="5403000" cy="73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Meet The Stellars</a:t>
            </a:r>
            <a:endParaRPr/>
          </a:p>
        </p:txBody>
      </p:sp>
      <p:sp>
        <p:nvSpPr>
          <p:cNvPr id="465" name="Google Shape;465;p42"/>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Datathon 2025</a:t>
            </a:r>
            <a:endParaRPr/>
          </a:p>
        </p:txBody>
      </p:sp>
      <p:sp>
        <p:nvSpPr>
          <p:cNvPr id="466" name="Google Shape;466;p42"/>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The Stellars</a:t>
            </a:r>
            <a:endParaRPr/>
          </a:p>
        </p:txBody>
      </p:sp>
      <p:sp>
        <p:nvSpPr>
          <p:cNvPr id="467" name="Google Shape;467;p42"/>
          <p:cNvSpPr txBox="1"/>
          <p:nvPr>
            <p:ph idx="4294967295" type="title"/>
          </p:nvPr>
        </p:nvSpPr>
        <p:spPr>
          <a:xfrm>
            <a:off x="56250" y="45175"/>
            <a:ext cx="6196800" cy="25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sz="1200">
                <a:solidFill>
                  <a:srgbClr val="CCCCCC"/>
                </a:solidFill>
              </a:rPr>
              <a:t>SpaceAware: Enhancing Space Situational Awareness</a:t>
            </a:r>
            <a:endParaRPr sz="1200">
              <a:solidFill>
                <a:srgbClr val="CCCCCC"/>
              </a:solidFill>
            </a:endParaRPr>
          </a:p>
        </p:txBody>
      </p:sp>
      <p:pic>
        <p:nvPicPr>
          <p:cNvPr id="468" name="Google Shape;468;p42"/>
          <p:cNvPicPr preferRelativeResize="0"/>
          <p:nvPr/>
        </p:nvPicPr>
        <p:blipFill rotWithShape="1">
          <a:blip r:embed="rId4">
            <a:alphaModFix/>
          </a:blip>
          <a:srcRect b="31295" l="6287" r="15213" t="0"/>
          <a:stretch/>
        </p:blipFill>
        <p:spPr>
          <a:xfrm>
            <a:off x="2127475" y="1190175"/>
            <a:ext cx="1027175" cy="1421176"/>
          </a:xfrm>
          <a:prstGeom prst="rect">
            <a:avLst/>
          </a:prstGeom>
          <a:noFill/>
          <a:ln>
            <a:noFill/>
          </a:ln>
        </p:spPr>
      </p:pic>
      <p:pic>
        <p:nvPicPr>
          <p:cNvPr id="469" name="Google Shape;469;p42"/>
          <p:cNvPicPr preferRelativeResize="0"/>
          <p:nvPr/>
        </p:nvPicPr>
        <p:blipFill rotWithShape="1">
          <a:blip r:embed="rId5">
            <a:alphaModFix/>
          </a:blip>
          <a:srcRect b="30579" l="12535" r="12535" t="2139"/>
          <a:stretch/>
        </p:blipFill>
        <p:spPr>
          <a:xfrm>
            <a:off x="4817000" y="1218860"/>
            <a:ext cx="1027176" cy="13839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Datathon 2025</a:t>
            </a:r>
            <a:endParaRPr/>
          </a:p>
        </p:txBody>
      </p:sp>
      <p:sp>
        <p:nvSpPr>
          <p:cNvPr id="475" name="Google Shape;475;p4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The Stellars</a:t>
            </a:r>
            <a:endParaRPr/>
          </a:p>
        </p:txBody>
      </p:sp>
      <p:sp>
        <p:nvSpPr>
          <p:cNvPr id="476" name="Google Shape;476;p43"/>
          <p:cNvSpPr txBox="1"/>
          <p:nvPr>
            <p:ph idx="4294967295" type="title"/>
          </p:nvPr>
        </p:nvSpPr>
        <p:spPr>
          <a:xfrm>
            <a:off x="2329800" y="3723350"/>
            <a:ext cx="6655500" cy="882000"/>
          </a:xfrm>
          <a:prstGeom prst="rect">
            <a:avLst/>
          </a:prstGeom>
        </p:spPr>
        <p:txBody>
          <a:bodyPr anchorCtr="0" anchor="t" bIns="91425" lIns="91425" spcFirstLastPara="1" rIns="91425" wrap="square" tIns="91425">
            <a:noAutofit/>
          </a:bodyPr>
          <a:lstStyle/>
          <a:p>
            <a:pPr indent="0" lvl="0" marL="0" rtl="0" algn="l">
              <a:lnSpc>
                <a:spcPct val="85000"/>
              </a:lnSpc>
              <a:spcBef>
                <a:spcPts val="0"/>
              </a:spcBef>
              <a:spcAft>
                <a:spcPts val="0"/>
              </a:spcAft>
              <a:buNone/>
            </a:pPr>
            <a:r>
              <a:t/>
            </a:r>
            <a:endParaRPr sz="2200">
              <a:solidFill>
                <a:schemeClr val="dk2"/>
              </a:solidFill>
            </a:endParaRPr>
          </a:p>
          <a:p>
            <a:pPr indent="0" lvl="0" marL="0" rtl="0" algn="l">
              <a:lnSpc>
                <a:spcPct val="85000"/>
              </a:lnSpc>
              <a:spcBef>
                <a:spcPts val="0"/>
              </a:spcBef>
              <a:spcAft>
                <a:spcPts val="0"/>
              </a:spcAft>
              <a:buNone/>
            </a:pPr>
            <a:r>
              <a:t/>
            </a:r>
            <a:endParaRPr sz="2200">
              <a:solidFill>
                <a:schemeClr val="dk2"/>
              </a:solidFill>
            </a:endParaRPr>
          </a:p>
          <a:p>
            <a:pPr indent="0" lvl="0" marL="0" rtl="0" algn="l">
              <a:lnSpc>
                <a:spcPct val="85000"/>
              </a:lnSpc>
              <a:spcBef>
                <a:spcPts val="0"/>
              </a:spcBef>
              <a:spcAft>
                <a:spcPts val="0"/>
              </a:spcAft>
              <a:buNone/>
            </a:pPr>
            <a:r>
              <a:rPr lang="en" sz="2100">
                <a:solidFill>
                  <a:schemeClr val="accent3"/>
                </a:solidFill>
              </a:rPr>
              <a:t>P</a:t>
            </a:r>
            <a:r>
              <a:rPr lang="en" sz="2100">
                <a:solidFill>
                  <a:schemeClr val="accent3"/>
                </a:solidFill>
              </a:rPr>
              <a:t>roviding insights for</a:t>
            </a:r>
            <a:r>
              <a:rPr lang="en" sz="2100">
                <a:solidFill>
                  <a:schemeClr val="dk2"/>
                </a:solidFill>
              </a:rPr>
              <a:t> </a:t>
            </a:r>
            <a:r>
              <a:rPr lang="en" sz="2100"/>
              <a:t>sustainable space operations</a:t>
            </a:r>
            <a:endParaRPr sz="2100"/>
          </a:p>
          <a:p>
            <a:pPr indent="0" lvl="0" marL="0" rtl="0" algn="l">
              <a:lnSpc>
                <a:spcPct val="85000"/>
              </a:lnSpc>
              <a:spcBef>
                <a:spcPts val="0"/>
              </a:spcBef>
              <a:spcAft>
                <a:spcPts val="0"/>
              </a:spcAft>
              <a:buNone/>
            </a:pPr>
            <a:r>
              <a:t/>
            </a:r>
            <a:endParaRPr sz="3000">
              <a:solidFill>
                <a:schemeClr val="accent3"/>
              </a:solidFill>
            </a:endParaRPr>
          </a:p>
        </p:txBody>
      </p:sp>
      <p:sp>
        <p:nvSpPr>
          <p:cNvPr id="477" name="Google Shape;477;p43"/>
          <p:cNvSpPr txBox="1"/>
          <p:nvPr>
            <p:ph idx="1" type="subTitle"/>
          </p:nvPr>
        </p:nvSpPr>
        <p:spPr>
          <a:xfrm>
            <a:off x="201525" y="169600"/>
            <a:ext cx="7593300" cy="252000"/>
          </a:xfrm>
          <a:prstGeom prst="rect">
            <a:avLst/>
          </a:prstGeom>
        </p:spPr>
        <p:txBody>
          <a:bodyPr anchorCtr="0" anchor="t" bIns="0" lIns="0" spcFirstLastPara="1" rIns="0" wrap="square" tIns="0">
            <a:noAutofit/>
          </a:bodyPr>
          <a:lstStyle/>
          <a:p>
            <a:pPr indent="0" lvl="0" marL="0" marR="0" rtl="0" algn="l">
              <a:lnSpc>
                <a:spcPct val="85000"/>
              </a:lnSpc>
              <a:spcBef>
                <a:spcPts val="0"/>
              </a:spcBef>
              <a:spcAft>
                <a:spcPts val="0"/>
              </a:spcAft>
              <a:buNone/>
            </a:pPr>
            <a:r>
              <a:rPr lang="en" sz="2200">
                <a:solidFill>
                  <a:schemeClr val="accent3"/>
                </a:solidFill>
              </a:rPr>
              <a:t>Enhancing Space Situational Awareness Through Orbital Anomaly Detection and</a:t>
            </a:r>
            <a:r>
              <a:rPr lang="en" sz="2600"/>
              <a:t> </a:t>
            </a:r>
            <a:r>
              <a:rPr lang="en" sz="2200">
                <a:solidFill>
                  <a:schemeClr val="accent3"/>
                </a:solidFill>
              </a:rPr>
              <a:t>Prediction</a:t>
            </a:r>
            <a:endParaRPr sz="2600"/>
          </a:p>
          <a:p>
            <a:pPr indent="0" lvl="0" marL="0" rtl="0" algn="l">
              <a:spcBef>
                <a:spcPts val="0"/>
              </a:spcBef>
              <a:spcAft>
                <a:spcPts val="0"/>
              </a:spcAft>
              <a:buNone/>
            </a:pPr>
            <a:r>
              <a:t/>
            </a:r>
            <a:endParaRPr sz="2500"/>
          </a:p>
        </p:txBody>
      </p:sp>
      <p:sp>
        <p:nvSpPr>
          <p:cNvPr id="478" name="Google Shape;478;p43"/>
          <p:cNvSpPr/>
          <p:nvPr/>
        </p:nvSpPr>
        <p:spPr>
          <a:xfrm>
            <a:off x="554675" y="1545488"/>
            <a:ext cx="7522200" cy="1500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479" name="Google Shape;479;p43"/>
          <p:cNvSpPr txBox="1"/>
          <p:nvPr/>
        </p:nvSpPr>
        <p:spPr>
          <a:xfrm>
            <a:off x="674675" y="1617200"/>
            <a:ext cx="7402200" cy="142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300">
                <a:solidFill>
                  <a:schemeClr val="lt1"/>
                </a:solidFill>
                <a:latin typeface="Urbanist"/>
                <a:ea typeface="Urbanist"/>
                <a:cs typeface="Urbanist"/>
                <a:sym typeface="Urbanist"/>
              </a:rPr>
              <a:t>Growing satellite congestion creates significant collision risks and orbital anomalies that threaten the safety and continuity of critical space operations. Using an anomaly detection algorithm combined with clustering analysis we successfully addressed this challenge by identifying risky orbital behaviors, flagging 3.5% of orbital updates as anomalies revealing clear decay patterns and congestion hotspots that enable proactive risk mitigation in satellite operations.</a:t>
            </a:r>
            <a:endParaRPr sz="1300">
              <a:solidFill>
                <a:schemeClr val="lt1"/>
              </a:solidFill>
              <a:latin typeface="Urbanist"/>
              <a:ea typeface="Urbanist"/>
              <a:cs typeface="Urbanist"/>
              <a:sym typeface="Urbanis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4">
            <a:hlinkClick action="ppaction://hlinksldjump" r:id="rId3"/>
          </p:cNvPr>
          <p:cNvSpPr/>
          <p:nvPr/>
        </p:nvSpPr>
        <p:spPr>
          <a:xfrm>
            <a:off x="4618950" y="228600"/>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85" name="Google Shape;485;p44">
            <a:hlinkClick action="ppaction://hlinksldjump" r:id="rId4"/>
          </p:cNvPr>
          <p:cNvSpPr/>
          <p:nvPr/>
        </p:nvSpPr>
        <p:spPr>
          <a:xfrm>
            <a:off x="4618950" y="906375"/>
            <a:ext cx="42966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86" name="Google Shape;486;p44">
            <a:hlinkClick/>
          </p:cNvPr>
          <p:cNvSpPr/>
          <p:nvPr/>
        </p:nvSpPr>
        <p:spPr>
          <a:xfrm>
            <a:off x="4618950" y="1584175"/>
            <a:ext cx="42966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87" name="Google Shape;487;p44">
            <a:hlinkClick action="ppaction://hlinksldjump" r:id="rId5"/>
          </p:cNvPr>
          <p:cNvSpPr/>
          <p:nvPr/>
        </p:nvSpPr>
        <p:spPr>
          <a:xfrm>
            <a:off x="4618950" y="2261950"/>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88" name="Google Shape;488;p44">
            <a:hlinkClick action="ppaction://hlinksldjump" r:id="rId6"/>
          </p:cNvPr>
          <p:cNvSpPr/>
          <p:nvPr/>
        </p:nvSpPr>
        <p:spPr>
          <a:xfrm>
            <a:off x="4618950" y="2939750"/>
            <a:ext cx="42966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89" name="Google Shape;489;p44">
            <a:hlinkClick action="ppaction://hlinksldjump" r:id="rId7"/>
          </p:cNvPr>
          <p:cNvSpPr/>
          <p:nvPr/>
        </p:nvSpPr>
        <p:spPr>
          <a:xfrm>
            <a:off x="4618950" y="3617525"/>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490" name="Google Shape;490;p44"/>
          <p:cNvGrpSpPr/>
          <p:nvPr/>
        </p:nvGrpSpPr>
        <p:grpSpPr>
          <a:xfrm rot="-5400000">
            <a:off x="8556505" y="430775"/>
            <a:ext cx="204654" cy="204654"/>
            <a:chOff x="259788" y="1923155"/>
            <a:chExt cx="409800" cy="409800"/>
          </a:xfrm>
        </p:grpSpPr>
        <p:sp>
          <p:nvSpPr>
            <p:cNvPr id="491" name="Google Shape;491;p44"/>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492" name="Google Shape;492;p44"/>
            <p:cNvGrpSpPr/>
            <p:nvPr/>
          </p:nvGrpSpPr>
          <p:grpSpPr>
            <a:xfrm>
              <a:off x="362088" y="2093825"/>
              <a:ext cx="205200" cy="102600"/>
              <a:chOff x="498725" y="2069800"/>
              <a:chExt cx="205200" cy="102600"/>
            </a:xfrm>
          </p:grpSpPr>
          <p:cxnSp>
            <p:nvCxnSpPr>
              <p:cNvPr id="493" name="Google Shape;493;p44"/>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94" name="Google Shape;494;p44"/>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495" name="Google Shape;495;p44"/>
          <p:cNvGrpSpPr/>
          <p:nvPr/>
        </p:nvGrpSpPr>
        <p:grpSpPr>
          <a:xfrm rot="-5400000">
            <a:off x="8556505" y="1108560"/>
            <a:ext cx="204654" cy="204654"/>
            <a:chOff x="259788" y="1923155"/>
            <a:chExt cx="409800" cy="409800"/>
          </a:xfrm>
        </p:grpSpPr>
        <p:sp>
          <p:nvSpPr>
            <p:cNvPr id="496" name="Google Shape;496;p44"/>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497" name="Google Shape;497;p44"/>
            <p:cNvGrpSpPr/>
            <p:nvPr/>
          </p:nvGrpSpPr>
          <p:grpSpPr>
            <a:xfrm>
              <a:off x="362088" y="2093825"/>
              <a:ext cx="205200" cy="102600"/>
              <a:chOff x="498725" y="2069800"/>
              <a:chExt cx="205200" cy="102600"/>
            </a:xfrm>
          </p:grpSpPr>
          <p:cxnSp>
            <p:nvCxnSpPr>
              <p:cNvPr id="498" name="Google Shape;498;p44"/>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99" name="Google Shape;499;p44"/>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500" name="Google Shape;500;p44"/>
          <p:cNvGrpSpPr/>
          <p:nvPr/>
        </p:nvGrpSpPr>
        <p:grpSpPr>
          <a:xfrm rot="-5400000">
            <a:off x="8556505" y="1786345"/>
            <a:ext cx="204654" cy="204654"/>
            <a:chOff x="259788" y="1923155"/>
            <a:chExt cx="409800" cy="409800"/>
          </a:xfrm>
        </p:grpSpPr>
        <p:sp>
          <p:nvSpPr>
            <p:cNvPr id="501" name="Google Shape;501;p44"/>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02" name="Google Shape;502;p44"/>
            <p:cNvGrpSpPr/>
            <p:nvPr/>
          </p:nvGrpSpPr>
          <p:grpSpPr>
            <a:xfrm>
              <a:off x="362088" y="2093825"/>
              <a:ext cx="205200" cy="102600"/>
              <a:chOff x="498725" y="2069800"/>
              <a:chExt cx="205200" cy="102600"/>
            </a:xfrm>
          </p:grpSpPr>
          <p:cxnSp>
            <p:nvCxnSpPr>
              <p:cNvPr id="503" name="Google Shape;503;p44"/>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504" name="Google Shape;504;p44"/>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505" name="Google Shape;505;p44"/>
          <p:cNvGrpSpPr/>
          <p:nvPr/>
        </p:nvGrpSpPr>
        <p:grpSpPr>
          <a:xfrm rot="-5400000">
            <a:off x="8556505" y="2464130"/>
            <a:ext cx="204654" cy="204654"/>
            <a:chOff x="259788" y="1923155"/>
            <a:chExt cx="409800" cy="409800"/>
          </a:xfrm>
        </p:grpSpPr>
        <p:sp>
          <p:nvSpPr>
            <p:cNvPr id="506" name="Google Shape;506;p44"/>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07" name="Google Shape;507;p44"/>
            <p:cNvGrpSpPr/>
            <p:nvPr/>
          </p:nvGrpSpPr>
          <p:grpSpPr>
            <a:xfrm>
              <a:off x="362088" y="2093825"/>
              <a:ext cx="205200" cy="102600"/>
              <a:chOff x="498725" y="2069800"/>
              <a:chExt cx="205200" cy="102600"/>
            </a:xfrm>
          </p:grpSpPr>
          <p:cxnSp>
            <p:nvCxnSpPr>
              <p:cNvPr id="508" name="Google Shape;508;p44"/>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509" name="Google Shape;509;p44"/>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510" name="Google Shape;510;p44"/>
          <p:cNvGrpSpPr/>
          <p:nvPr/>
        </p:nvGrpSpPr>
        <p:grpSpPr>
          <a:xfrm rot="-5400000">
            <a:off x="8556505" y="3141915"/>
            <a:ext cx="204654" cy="204654"/>
            <a:chOff x="259788" y="1923155"/>
            <a:chExt cx="409800" cy="409800"/>
          </a:xfrm>
        </p:grpSpPr>
        <p:sp>
          <p:nvSpPr>
            <p:cNvPr id="511" name="Google Shape;511;p44"/>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12" name="Google Shape;512;p44"/>
            <p:cNvGrpSpPr/>
            <p:nvPr/>
          </p:nvGrpSpPr>
          <p:grpSpPr>
            <a:xfrm>
              <a:off x="362088" y="2093825"/>
              <a:ext cx="205200" cy="102600"/>
              <a:chOff x="498725" y="2069800"/>
              <a:chExt cx="205200" cy="102600"/>
            </a:xfrm>
          </p:grpSpPr>
          <p:cxnSp>
            <p:nvCxnSpPr>
              <p:cNvPr id="513" name="Google Shape;513;p44"/>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514" name="Google Shape;514;p44"/>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515" name="Google Shape;515;p44"/>
          <p:cNvGrpSpPr/>
          <p:nvPr/>
        </p:nvGrpSpPr>
        <p:grpSpPr>
          <a:xfrm rot="-5400000">
            <a:off x="8556505" y="3819700"/>
            <a:ext cx="204654" cy="204654"/>
            <a:chOff x="259788" y="1923155"/>
            <a:chExt cx="409800" cy="409800"/>
          </a:xfrm>
        </p:grpSpPr>
        <p:sp>
          <p:nvSpPr>
            <p:cNvPr id="516" name="Google Shape;516;p44"/>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517" name="Google Shape;517;p44"/>
            <p:cNvGrpSpPr/>
            <p:nvPr/>
          </p:nvGrpSpPr>
          <p:grpSpPr>
            <a:xfrm>
              <a:off x="362088" y="2093825"/>
              <a:ext cx="205200" cy="102600"/>
              <a:chOff x="498725" y="2069800"/>
              <a:chExt cx="205200" cy="102600"/>
            </a:xfrm>
          </p:grpSpPr>
          <p:cxnSp>
            <p:nvCxnSpPr>
              <p:cNvPr id="518" name="Google Shape;518;p44"/>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519" name="Google Shape;519;p44"/>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
        <p:nvSpPr>
          <p:cNvPr id="520" name="Google Shape;520;p44"/>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The Stellars</a:t>
            </a:r>
            <a:endParaRPr/>
          </a:p>
        </p:txBody>
      </p:sp>
      <p:sp>
        <p:nvSpPr>
          <p:cNvPr id="521" name="Google Shape;521;p44"/>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Datathon 2025</a:t>
            </a:r>
            <a:endParaRPr/>
          </a:p>
        </p:txBody>
      </p:sp>
      <p:sp>
        <p:nvSpPr>
          <p:cNvPr id="522" name="Google Shape;522;p44"/>
          <p:cNvSpPr txBox="1"/>
          <p:nvPr>
            <p:ph type="title"/>
          </p:nvPr>
        </p:nvSpPr>
        <p:spPr>
          <a:xfrm>
            <a:off x="263750" y="530775"/>
            <a:ext cx="3904500" cy="4848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000"/>
              <a:t>Content</a:t>
            </a:r>
            <a:endParaRPr sz="3000"/>
          </a:p>
        </p:txBody>
      </p:sp>
      <p:sp>
        <p:nvSpPr>
          <p:cNvPr id="523" name="Google Shape;523;p44"/>
          <p:cNvSpPr txBox="1"/>
          <p:nvPr>
            <p:ph idx="4" type="subTitle"/>
          </p:nvPr>
        </p:nvSpPr>
        <p:spPr>
          <a:xfrm>
            <a:off x="4744575" y="387150"/>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524" name="Google Shape;524;p44"/>
          <p:cNvSpPr txBox="1"/>
          <p:nvPr>
            <p:ph idx="5" type="subTitle"/>
          </p:nvPr>
        </p:nvSpPr>
        <p:spPr>
          <a:xfrm>
            <a:off x="4744575" y="1064088"/>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a:t>
            </a:r>
            <a:endParaRPr/>
          </a:p>
        </p:txBody>
      </p:sp>
      <p:sp>
        <p:nvSpPr>
          <p:cNvPr id="525" name="Google Shape;525;p44"/>
          <p:cNvSpPr txBox="1"/>
          <p:nvPr>
            <p:ph idx="6" type="subTitle"/>
          </p:nvPr>
        </p:nvSpPr>
        <p:spPr>
          <a:xfrm>
            <a:off x="4744575" y="1741025"/>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526" name="Google Shape;526;p44"/>
          <p:cNvSpPr txBox="1"/>
          <p:nvPr>
            <p:ph idx="7" type="subTitle"/>
          </p:nvPr>
        </p:nvSpPr>
        <p:spPr>
          <a:xfrm>
            <a:off x="4744575" y="2422306"/>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4</a:t>
            </a:r>
            <a:endParaRPr/>
          </a:p>
        </p:txBody>
      </p:sp>
      <p:sp>
        <p:nvSpPr>
          <p:cNvPr id="527" name="Google Shape;527;p44"/>
          <p:cNvSpPr txBox="1"/>
          <p:nvPr>
            <p:ph idx="8" type="subTitle"/>
          </p:nvPr>
        </p:nvSpPr>
        <p:spPr>
          <a:xfrm>
            <a:off x="4744575" y="3096606"/>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5</a:t>
            </a:r>
            <a:endParaRPr/>
          </a:p>
        </p:txBody>
      </p:sp>
      <p:sp>
        <p:nvSpPr>
          <p:cNvPr id="528" name="Google Shape;528;p44"/>
          <p:cNvSpPr txBox="1"/>
          <p:nvPr>
            <p:ph idx="9" type="subTitle"/>
          </p:nvPr>
        </p:nvSpPr>
        <p:spPr>
          <a:xfrm>
            <a:off x="4744575" y="3770931"/>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6</a:t>
            </a:r>
            <a:endParaRPr/>
          </a:p>
        </p:txBody>
      </p:sp>
      <p:sp>
        <p:nvSpPr>
          <p:cNvPr id="529" name="Google Shape;529;p44"/>
          <p:cNvSpPr txBox="1"/>
          <p:nvPr>
            <p:ph idx="13" type="subTitle"/>
          </p:nvPr>
        </p:nvSpPr>
        <p:spPr>
          <a:xfrm>
            <a:off x="5067075" y="387150"/>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Stakeholders</a:t>
            </a:r>
            <a:endParaRPr/>
          </a:p>
        </p:txBody>
      </p:sp>
      <p:sp>
        <p:nvSpPr>
          <p:cNvPr id="530" name="Google Shape;530;p44"/>
          <p:cNvSpPr txBox="1"/>
          <p:nvPr>
            <p:ph idx="14" type="subTitle"/>
          </p:nvPr>
        </p:nvSpPr>
        <p:spPr>
          <a:xfrm>
            <a:off x="5067075" y="1064088"/>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Methodology and Approach</a:t>
            </a:r>
            <a:endParaRPr/>
          </a:p>
        </p:txBody>
      </p:sp>
      <p:sp>
        <p:nvSpPr>
          <p:cNvPr id="531" name="Google Shape;531;p44"/>
          <p:cNvSpPr txBox="1"/>
          <p:nvPr>
            <p:ph idx="15" type="subTitle"/>
          </p:nvPr>
        </p:nvSpPr>
        <p:spPr>
          <a:xfrm>
            <a:off x="5067075" y="1741025"/>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Starlink Case Study</a:t>
            </a:r>
            <a:endParaRPr/>
          </a:p>
        </p:txBody>
      </p:sp>
      <p:sp>
        <p:nvSpPr>
          <p:cNvPr id="532" name="Google Shape;532;p44"/>
          <p:cNvSpPr txBox="1"/>
          <p:nvPr>
            <p:ph idx="16" type="subTitle"/>
          </p:nvPr>
        </p:nvSpPr>
        <p:spPr>
          <a:xfrm>
            <a:off x="5067075" y="2422306"/>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Visualizations </a:t>
            </a:r>
            <a:endParaRPr/>
          </a:p>
        </p:txBody>
      </p:sp>
      <p:sp>
        <p:nvSpPr>
          <p:cNvPr id="533" name="Google Shape;533;p44"/>
          <p:cNvSpPr txBox="1"/>
          <p:nvPr>
            <p:ph idx="17" type="subTitle"/>
          </p:nvPr>
        </p:nvSpPr>
        <p:spPr>
          <a:xfrm>
            <a:off x="5067075" y="3096606"/>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Recommendations</a:t>
            </a:r>
            <a:endParaRPr/>
          </a:p>
        </p:txBody>
      </p:sp>
      <p:sp>
        <p:nvSpPr>
          <p:cNvPr id="534" name="Google Shape;534;p44"/>
          <p:cNvSpPr txBox="1"/>
          <p:nvPr>
            <p:ph idx="18" type="subTitle"/>
          </p:nvPr>
        </p:nvSpPr>
        <p:spPr>
          <a:xfrm>
            <a:off x="5067075" y="3770931"/>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Conclusion</a:t>
            </a:r>
            <a:endParaRPr/>
          </a:p>
        </p:txBody>
      </p:sp>
      <p:sp>
        <p:nvSpPr>
          <p:cNvPr id="535" name="Google Shape;535;p44"/>
          <p:cNvSpPr txBox="1"/>
          <p:nvPr>
            <p:ph type="title"/>
          </p:nvPr>
        </p:nvSpPr>
        <p:spPr>
          <a:xfrm>
            <a:off x="228600" y="168775"/>
            <a:ext cx="6196800" cy="249300"/>
          </a:xfrm>
          <a:prstGeom prst="rect">
            <a:avLst/>
          </a:prstGeom>
        </p:spPr>
        <p:txBody>
          <a:bodyPr anchorCtr="0" anchor="t" bIns="91425" lIns="0" spcFirstLastPara="1" rIns="91425" wrap="square" tIns="0">
            <a:spAutoFit/>
          </a:bodyPr>
          <a:lstStyle/>
          <a:p>
            <a:pPr indent="0" lvl="0" marL="0" rtl="0" algn="l">
              <a:spcBef>
                <a:spcPts val="0"/>
              </a:spcBef>
              <a:spcAft>
                <a:spcPts val="0"/>
              </a:spcAft>
              <a:buClr>
                <a:schemeClr val="dk1"/>
              </a:buClr>
              <a:buSzPts val="1100"/>
              <a:buNone/>
            </a:pPr>
            <a:r>
              <a:rPr lang="en" sz="1200">
                <a:solidFill>
                  <a:srgbClr val="CCCCCC"/>
                </a:solidFill>
              </a:rPr>
              <a:t>SpaceAware: Enhancing Space Situational Awareness</a:t>
            </a:r>
            <a:endParaRPr sz="1200">
              <a:solidFill>
                <a:srgbClr val="CCCCCC"/>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5"/>
          <p:cNvSpPr/>
          <p:nvPr/>
        </p:nvSpPr>
        <p:spPr>
          <a:xfrm>
            <a:off x="6080700" y="228600"/>
            <a:ext cx="2835000" cy="2062800"/>
          </a:xfrm>
          <a:prstGeom prst="roundRect">
            <a:avLst>
              <a:gd fmla="val 1185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solidFill>
                <a:schemeClr val="dk1"/>
              </a:solidFill>
              <a:latin typeface="Urbanist"/>
              <a:ea typeface="Urbanist"/>
              <a:cs typeface="Urbanist"/>
              <a:sym typeface="Urbanist"/>
            </a:endParaRPr>
          </a:p>
        </p:txBody>
      </p:sp>
      <p:sp>
        <p:nvSpPr>
          <p:cNvPr id="541" name="Google Shape;541;p45"/>
          <p:cNvSpPr/>
          <p:nvPr/>
        </p:nvSpPr>
        <p:spPr>
          <a:xfrm>
            <a:off x="3154500" y="228600"/>
            <a:ext cx="2835000" cy="2062800"/>
          </a:xfrm>
          <a:prstGeom prst="roundRect">
            <a:avLst>
              <a:gd fmla="val 12302"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42" name="Google Shape;542;p45"/>
          <p:cNvSpPr/>
          <p:nvPr/>
        </p:nvSpPr>
        <p:spPr>
          <a:xfrm>
            <a:off x="6080700" y="2389841"/>
            <a:ext cx="2835000" cy="2062800"/>
          </a:xfrm>
          <a:prstGeom prst="roundRect">
            <a:avLst>
              <a:gd fmla="val 1160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43" name="Google Shape;543;p45"/>
          <p:cNvSpPr/>
          <p:nvPr/>
        </p:nvSpPr>
        <p:spPr>
          <a:xfrm>
            <a:off x="3154500" y="2389841"/>
            <a:ext cx="2835000" cy="2062800"/>
          </a:xfrm>
          <a:prstGeom prst="roundRect">
            <a:avLst>
              <a:gd fmla="val 1087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44" name="Google Shape;544;p45"/>
          <p:cNvSpPr txBox="1"/>
          <p:nvPr>
            <p:ph idx="4" type="title"/>
          </p:nvPr>
        </p:nvSpPr>
        <p:spPr>
          <a:xfrm>
            <a:off x="3231775" y="478875"/>
            <a:ext cx="2512500" cy="2364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t>Satellites Operators</a:t>
            </a:r>
            <a:endParaRPr/>
          </a:p>
        </p:txBody>
      </p:sp>
      <p:sp>
        <p:nvSpPr>
          <p:cNvPr id="545" name="Google Shape;545;p45"/>
          <p:cNvSpPr txBox="1"/>
          <p:nvPr>
            <p:ph idx="6" type="subTitle"/>
          </p:nvPr>
        </p:nvSpPr>
        <p:spPr>
          <a:xfrm>
            <a:off x="3349648" y="1252077"/>
            <a:ext cx="2444700" cy="8181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lt1"/>
                </a:solidFill>
                <a:latin typeface="Urbanist"/>
                <a:ea typeface="Urbanist"/>
                <a:cs typeface="Urbanist"/>
                <a:sym typeface="Urbanist"/>
              </a:rPr>
              <a:t>The BSTAR anomaly time series and altitude drift plots  show when satellites experience abnormal drag. Operators can use this to trigger reboost maneuvers before decay risk increases.</a:t>
            </a:r>
            <a:endParaRPr>
              <a:solidFill>
                <a:schemeClr val="lt1"/>
              </a:solidFill>
              <a:latin typeface="Urbanist"/>
              <a:ea typeface="Urbanist"/>
              <a:cs typeface="Urbanist"/>
              <a:sym typeface="Urbanist"/>
            </a:endParaRPr>
          </a:p>
        </p:txBody>
      </p:sp>
      <p:sp>
        <p:nvSpPr>
          <p:cNvPr id="546" name="Google Shape;546;p45"/>
          <p:cNvSpPr txBox="1"/>
          <p:nvPr>
            <p:ph idx="7" type="title"/>
          </p:nvPr>
        </p:nvSpPr>
        <p:spPr>
          <a:xfrm>
            <a:off x="6318050" y="692175"/>
            <a:ext cx="2265600" cy="2046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latin typeface="Urbanist Medium"/>
                <a:ea typeface="Urbanist Medium"/>
                <a:cs typeface="Urbanist Medium"/>
                <a:sym typeface="Urbanist Medium"/>
              </a:rPr>
              <a:t>Regulators and Policy Bodies</a:t>
            </a:r>
            <a:endParaRPr>
              <a:latin typeface="Urbanist Medium"/>
              <a:ea typeface="Urbanist Medium"/>
              <a:cs typeface="Urbanist Medium"/>
              <a:sym typeface="Urbanist Medium"/>
            </a:endParaRPr>
          </a:p>
        </p:txBody>
      </p:sp>
      <p:sp>
        <p:nvSpPr>
          <p:cNvPr id="547" name="Google Shape;547;p45"/>
          <p:cNvSpPr txBox="1"/>
          <p:nvPr>
            <p:ph idx="9" type="subTitle"/>
          </p:nvPr>
        </p:nvSpPr>
        <p:spPr>
          <a:xfrm>
            <a:off x="6318025" y="1031125"/>
            <a:ext cx="2700000" cy="8181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lt1"/>
                </a:solidFill>
                <a:latin typeface="Urbanist"/>
                <a:ea typeface="Urbanist"/>
                <a:cs typeface="Urbanist"/>
                <a:sym typeface="Urbanist"/>
              </a:rPr>
              <a:t>The decay clustering visuals  and congestion heatmaps, identify periods and altitudes with systematically higher risks. These insights can inform the development of more effective space traffic management rules, and support the enforcement of debris mitigation regulations.</a:t>
            </a:r>
            <a:endParaRPr>
              <a:solidFill>
                <a:schemeClr val="lt1"/>
              </a:solidFill>
              <a:latin typeface="Urbanist"/>
              <a:ea typeface="Urbanist"/>
              <a:cs typeface="Urbanist"/>
              <a:sym typeface="Urbanist"/>
            </a:endParaRPr>
          </a:p>
          <a:p>
            <a:pPr indent="0" lvl="0" marL="0" rtl="0" algn="l">
              <a:lnSpc>
                <a:spcPct val="115000"/>
              </a:lnSpc>
              <a:spcBef>
                <a:spcPts val="0"/>
              </a:spcBef>
              <a:spcAft>
                <a:spcPts val="0"/>
              </a:spcAft>
              <a:buClr>
                <a:schemeClr val="dk1"/>
              </a:buClr>
              <a:buSzPts val="1100"/>
              <a:buFont typeface="Arial"/>
              <a:buNone/>
            </a:pPr>
            <a:r>
              <a:t/>
            </a:r>
            <a:endParaRPr>
              <a:solidFill>
                <a:schemeClr val="lt1"/>
              </a:solidFill>
              <a:latin typeface="Urbanist"/>
              <a:ea typeface="Urbanist"/>
              <a:cs typeface="Urbanist"/>
              <a:sym typeface="Urbanist"/>
            </a:endParaRPr>
          </a:p>
        </p:txBody>
      </p:sp>
      <p:sp>
        <p:nvSpPr>
          <p:cNvPr id="548" name="Google Shape;548;p45"/>
          <p:cNvSpPr txBox="1"/>
          <p:nvPr>
            <p:ph idx="13" type="title"/>
          </p:nvPr>
        </p:nvSpPr>
        <p:spPr>
          <a:xfrm>
            <a:off x="6280550" y="2618263"/>
            <a:ext cx="2921100" cy="2916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latin typeface="Urbanist Medium"/>
                <a:ea typeface="Urbanist Medium"/>
                <a:cs typeface="Urbanist Medium"/>
                <a:sym typeface="Urbanist Medium"/>
              </a:rPr>
              <a:t>Research &amp; Academia</a:t>
            </a:r>
            <a:endParaRPr>
              <a:latin typeface="Urbanist Medium"/>
              <a:ea typeface="Urbanist Medium"/>
              <a:cs typeface="Urbanist Medium"/>
              <a:sym typeface="Urbanist Medium"/>
            </a:endParaRPr>
          </a:p>
        </p:txBody>
      </p:sp>
      <p:sp>
        <p:nvSpPr>
          <p:cNvPr id="549" name="Google Shape;549;p45"/>
          <p:cNvSpPr txBox="1"/>
          <p:nvPr>
            <p:ph idx="15" type="subTitle"/>
          </p:nvPr>
        </p:nvSpPr>
        <p:spPr>
          <a:xfrm>
            <a:off x="6292475" y="3090850"/>
            <a:ext cx="2512500" cy="8181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lt1"/>
                </a:solidFill>
                <a:latin typeface="Urbanist"/>
                <a:ea typeface="Urbanist"/>
                <a:cs typeface="Urbanist"/>
                <a:sym typeface="Urbanist"/>
              </a:rPr>
              <a:t>The combination of TLE-driven anomaly detection &amp; decay event clustering → offers a replicable methodology. Scientists can extend this by integrating space weather indices, and use </a:t>
            </a:r>
            <a:r>
              <a:rPr lang="en">
                <a:solidFill>
                  <a:schemeClr val="lt1"/>
                </a:solidFill>
                <a:latin typeface="Urbanist"/>
                <a:ea typeface="Urbanist"/>
                <a:cs typeface="Urbanist"/>
                <a:sym typeface="Urbanist"/>
              </a:rPr>
              <a:t>methods</a:t>
            </a:r>
            <a:r>
              <a:rPr lang="en">
                <a:solidFill>
                  <a:schemeClr val="lt1"/>
                </a:solidFill>
                <a:latin typeface="Urbanist"/>
                <a:ea typeface="Urbanist"/>
                <a:cs typeface="Urbanist"/>
                <a:sym typeface="Urbanist"/>
              </a:rPr>
              <a:t> for decay events and anomaly detection, </a:t>
            </a:r>
            <a:endParaRPr>
              <a:solidFill>
                <a:schemeClr val="lt1"/>
              </a:solidFill>
              <a:latin typeface="Urbanist"/>
              <a:ea typeface="Urbanist"/>
              <a:cs typeface="Urbanist"/>
              <a:sym typeface="Urbanist"/>
            </a:endParaRPr>
          </a:p>
        </p:txBody>
      </p:sp>
      <p:sp>
        <p:nvSpPr>
          <p:cNvPr id="550" name="Google Shape;550;p45"/>
          <p:cNvSpPr txBox="1"/>
          <p:nvPr>
            <p:ph idx="16" type="title"/>
          </p:nvPr>
        </p:nvSpPr>
        <p:spPr>
          <a:xfrm>
            <a:off x="3332450" y="2729725"/>
            <a:ext cx="2512500" cy="4194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latin typeface="Urbanist Medium"/>
                <a:ea typeface="Urbanist Medium"/>
                <a:cs typeface="Urbanist Medium"/>
                <a:sym typeface="Urbanist Medium"/>
              </a:rPr>
              <a:t>Insurance &amp; Risk Managers</a:t>
            </a:r>
            <a:endParaRPr>
              <a:latin typeface="Urbanist Medium"/>
              <a:ea typeface="Urbanist Medium"/>
              <a:cs typeface="Urbanist Medium"/>
              <a:sym typeface="Urbanist Medium"/>
            </a:endParaRPr>
          </a:p>
        </p:txBody>
      </p:sp>
      <p:sp>
        <p:nvSpPr>
          <p:cNvPr id="551" name="Google Shape;551;p45"/>
          <p:cNvSpPr txBox="1"/>
          <p:nvPr>
            <p:ph idx="18" type="subTitle"/>
          </p:nvPr>
        </p:nvSpPr>
        <p:spPr>
          <a:xfrm>
            <a:off x="3332335" y="3194117"/>
            <a:ext cx="2444700" cy="8181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lt1"/>
                </a:solidFill>
                <a:latin typeface="Urbanist"/>
                <a:ea typeface="Urbanist"/>
                <a:cs typeface="Urbanist"/>
                <a:sym typeface="Urbanist"/>
              </a:rPr>
              <a:t>These stakeholders can use the logistic </a:t>
            </a:r>
            <a:r>
              <a:rPr lang="en">
                <a:solidFill>
                  <a:schemeClr val="lt1"/>
                </a:solidFill>
                <a:latin typeface="Urbanist"/>
                <a:ea typeface="Urbanist"/>
                <a:cs typeface="Urbanist"/>
                <a:sym typeface="Urbanist"/>
              </a:rPr>
              <a:t>regression</a:t>
            </a:r>
            <a:r>
              <a:rPr lang="en">
                <a:solidFill>
                  <a:schemeClr val="lt1"/>
                </a:solidFill>
                <a:latin typeface="Urbanist"/>
                <a:ea typeface="Urbanist"/>
                <a:cs typeface="Urbanist"/>
                <a:sym typeface="Urbanist"/>
              </a:rPr>
              <a:t> decay model to </a:t>
            </a:r>
            <a:r>
              <a:rPr lang="en">
                <a:solidFill>
                  <a:schemeClr val="lt1"/>
                </a:solidFill>
                <a:latin typeface="Urbanist"/>
                <a:ea typeface="Urbanist"/>
                <a:cs typeface="Urbanist"/>
                <a:sym typeface="Urbanist"/>
              </a:rPr>
              <a:t>assess</a:t>
            </a:r>
            <a:r>
              <a:rPr lang="en">
                <a:solidFill>
                  <a:schemeClr val="lt1"/>
                </a:solidFill>
                <a:latin typeface="Urbanist"/>
                <a:ea typeface="Urbanist"/>
                <a:cs typeface="Urbanist"/>
                <a:sym typeface="Urbanist"/>
              </a:rPr>
              <a:t> satellite risk and set </a:t>
            </a:r>
            <a:r>
              <a:rPr lang="en">
                <a:solidFill>
                  <a:schemeClr val="lt1"/>
                </a:solidFill>
                <a:latin typeface="Urbanist"/>
                <a:ea typeface="Urbanist"/>
                <a:cs typeface="Urbanist"/>
                <a:sym typeface="Urbanist"/>
              </a:rPr>
              <a:t>insurance</a:t>
            </a:r>
            <a:r>
              <a:rPr lang="en">
                <a:solidFill>
                  <a:schemeClr val="lt1"/>
                </a:solidFill>
                <a:latin typeface="Urbanist"/>
                <a:ea typeface="Urbanist"/>
                <a:cs typeface="Urbanist"/>
                <a:sym typeface="Urbanist"/>
              </a:rPr>
              <a:t> prices based on early warning systems.</a:t>
            </a:r>
            <a:endParaRPr>
              <a:solidFill>
                <a:schemeClr val="lt1"/>
              </a:solidFill>
              <a:latin typeface="Urbanist"/>
              <a:ea typeface="Urbanist"/>
              <a:cs typeface="Urbanist"/>
              <a:sym typeface="Urbanist"/>
            </a:endParaRPr>
          </a:p>
          <a:p>
            <a:pPr indent="0" lvl="0" marL="0" rtl="0" algn="l">
              <a:spcBef>
                <a:spcPts val="0"/>
              </a:spcBef>
              <a:spcAft>
                <a:spcPts val="0"/>
              </a:spcAft>
              <a:buNone/>
            </a:pPr>
            <a:r>
              <a:t/>
            </a:r>
            <a:endParaRPr>
              <a:solidFill>
                <a:schemeClr val="lt1"/>
              </a:solidFill>
              <a:latin typeface="Urbanist"/>
              <a:ea typeface="Urbanist"/>
              <a:cs typeface="Urbanist"/>
              <a:sym typeface="Urbanist"/>
            </a:endParaRPr>
          </a:p>
        </p:txBody>
      </p:sp>
      <p:sp>
        <p:nvSpPr>
          <p:cNvPr id="552" name="Google Shape;552;p45"/>
          <p:cNvSpPr txBox="1"/>
          <p:nvPr>
            <p:ph idx="8" type="subTitle"/>
          </p:nvPr>
        </p:nvSpPr>
        <p:spPr>
          <a:xfrm>
            <a:off x="6318014" y="826514"/>
            <a:ext cx="1549500" cy="204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NASA, FCC, ESA </a:t>
            </a:r>
            <a:endParaRPr/>
          </a:p>
        </p:txBody>
      </p:sp>
      <p:sp>
        <p:nvSpPr>
          <p:cNvPr id="553" name="Google Shape;553;p45"/>
          <p:cNvSpPr txBox="1"/>
          <p:nvPr>
            <p:ph idx="7" type="title"/>
          </p:nvPr>
        </p:nvSpPr>
        <p:spPr>
          <a:xfrm>
            <a:off x="226050" y="328200"/>
            <a:ext cx="2835000" cy="490500"/>
          </a:xfrm>
          <a:prstGeom prst="rect">
            <a:avLst/>
          </a:prstGeom>
        </p:spPr>
        <p:txBody>
          <a:bodyPr anchorCtr="0" anchor="b" bIns="91425" lIns="0" spcFirstLastPara="1" rIns="91425" wrap="square" tIns="0">
            <a:noAutofit/>
          </a:bodyPr>
          <a:lstStyle/>
          <a:p>
            <a:pPr indent="0" lvl="0" marL="0" marR="0" rtl="0" algn="l">
              <a:lnSpc>
                <a:spcPct val="100000"/>
              </a:lnSpc>
              <a:spcBef>
                <a:spcPts val="0"/>
              </a:spcBef>
              <a:spcAft>
                <a:spcPts val="0"/>
              </a:spcAft>
              <a:buNone/>
            </a:pPr>
            <a:r>
              <a:rPr lang="en" sz="3000">
                <a:solidFill>
                  <a:schemeClr val="lt1"/>
                </a:solidFill>
                <a:latin typeface="Urbanist Medium"/>
                <a:ea typeface="Urbanist Medium"/>
                <a:cs typeface="Urbanist Medium"/>
                <a:sym typeface="Urbanist Medium"/>
              </a:rPr>
              <a:t>Stakeholders</a:t>
            </a:r>
            <a:endParaRPr/>
          </a:p>
        </p:txBody>
      </p:sp>
      <p:sp>
        <p:nvSpPr>
          <p:cNvPr id="554" name="Google Shape;554;p45"/>
          <p:cNvSpPr txBox="1"/>
          <p:nvPr>
            <p:ph idx="8" type="subTitle"/>
          </p:nvPr>
        </p:nvSpPr>
        <p:spPr>
          <a:xfrm>
            <a:off x="6859200" y="4708425"/>
            <a:ext cx="2056500" cy="228600"/>
          </a:xfrm>
          <a:prstGeom prst="rect">
            <a:avLst/>
          </a:prstGeom>
        </p:spPr>
        <p:txBody>
          <a:bodyPr anchorCtr="0" anchor="t" bIns="91425" lIns="0" spcFirstLastPara="1" rIns="91425" wrap="square" tIns="0">
            <a:noAutofit/>
          </a:bodyPr>
          <a:lstStyle/>
          <a:p>
            <a:pPr indent="0" lvl="0" marL="1371600" rtl="0" algn="l">
              <a:spcBef>
                <a:spcPts val="0"/>
              </a:spcBef>
              <a:spcAft>
                <a:spcPts val="0"/>
              </a:spcAft>
              <a:buNone/>
            </a:pPr>
            <a:r>
              <a:t/>
            </a:r>
            <a:endParaRPr sz="700"/>
          </a:p>
          <a:p>
            <a:pPr indent="0" lvl="0" marL="1371600" rtl="0" algn="l">
              <a:spcBef>
                <a:spcPts val="0"/>
              </a:spcBef>
              <a:spcAft>
                <a:spcPts val="0"/>
              </a:spcAft>
              <a:buNone/>
            </a:pPr>
            <a:r>
              <a:rPr lang="en" sz="700"/>
              <a:t>Datathon 2025</a:t>
            </a:r>
            <a:endParaRPr sz="700"/>
          </a:p>
        </p:txBody>
      </p:sp>
      <p:sp>
        <p:nvSpPr>
          <p:cNvPr id="555" name="Google Shape;555;p45"/>
          <p:cNvSpPr txBox="1"/>
          <p:nvPr>
            <p:ph idx="4294967295" type="subTitle"/>
          </p:nvPr>
        </p:nvSpPr>
        <p:spPr>
          <a:xfrm>
            <a:off x="328675" y="4740575"/>
            <a:ext cx="2700000" cy="23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700"/>
              <a:t>The Stellars</a:t>
            </a:r>
            <a:endParaRPr sz="700"/>
          </a:p>
        </p:txBody>
      </p:sp>
      <p:sp>
        <p:nvSpPr>
          <p:cNvPr id="556" name="Google Shape;556;p45"/>
          <p:cNvSpPr/>
          <p:nvPr/>
        </p:nvSpPr>
        <p:spPr>
          <a:xfrm>
            <a:off x="193675" y="2422241"/>
            <a:ext cx="2835000" cy="2062800"/>
          </a:xfrm>
          <a:prstGeom prst="roundRect">
            <a:avLst>
              <a:gd fmla="val 1160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57" name="Google Shape;557;p45"/>
          <p:cNvSpPr txBox="1"/>
          <p:nvPr>
            <p:ph idx="13" type="title"/>
          </p:nvPr>
        </p:nvSpPr>
        <p:spPr>
          <a:xfrm>
            <a:off x="440209" y="2656047"/>
            <a:ext cx="2656500" cy="2286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sz="1700">
                <a:latin typeface="Urbanist Medium"/>
                <a:ea typeface="Urbanist Medium"/>
                <a:cs typeface="Urbanist Medium"/>
                <a:sym typeface="Urbanist Medium"/>
              </a:rPr>
              <a:t>SSA providers</a:t>
            </a:r>
            <a:endParaRPr sz="1700">
              <a:latin typeface="Urbanist Medium"/>
              <a:ea typeface="Urbanist Medium"/>
              <a:cs typeface="Urbanist Medium"/>
              <a:sym typeface="Urbanist Medium"/>
            </a:endParaRPr>
          </a:p>
        </p:txBody>
      </p:sp>
      <p:sp>
        <p:nvSpPr>
          <p:cNvPr id="558" name="Google Shape;558;p45"/>
          <p:cNvSpPr txBox="1"/>
          <p:nvPr>
            <p:ph idx="14" type="subTitle"/>
          </p:nvPr>
        </p:nvSpPr>
        <p:spPr>
          <a:xfrm>
            <a:off x="431025" y="2888625"/>
            <a:ext cx="2265600" cy="1722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Font typeface="Arial"/>
              <a:buNone/>
            </a:pPr>
            <a:r>
              <a:rPr lang="en"/>
              <a:t>USSPACECOM  &amp; LeoLabs</a:t>
            </a:r>
            <a:endParaRPr/>
          </a:p>
          <a:p>
            <a:pPr indent="0" lvl="0" marL="0" rtl="0" algn="l">
              <a:spcBef>
                <a:spcPts val="0"/>
              </a:spcBef>
              <a:spcAft>
                <a:spcPts val="0"/>
              </a:spcAft>
              <a:buNone/>
            </a:pPr>
            <a:r>
              <a:t/>
            </a:r>
            <a:endParaRPr/>
          </a:p>
        </p:txBody>
      </p:sp>
      <p:sp>
        <p:nvSpPr>
          <p:cNvPr id="559" name="Google Shape;559;p45"/>
          <p:cNvSpPr txBox="1"/>
          <p:nvPr>
            <p:ph idx="15" type="subTitle"/>
          </p:nvPr>
        </p:nvSpPr>
        <p:spPr>
          <a:xfrm>
            <a:off x="440236" y="3149117"/>
            <a:ext cx="2444700" cy="8181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lt1"/>
                </a:solidFill>
                <a:latin typeface="Urbanist"/>
                <a:ea typeface="Urbanist"/>
                <a:cs typeface="Urbanist"/>
                <a:sym typeface="Urbanist"/>
              </a:rPr>
              <a:t>The congestion analysis and case study of Starlink 2022 storm losses provide evidence that drag anomalies and congestion amplify collision risks  SSA can integrate such anomaly markers into conjunction predictions.</a:t>
            </a:r>
            <a:endParaRPr>
              <a:solidFill>
                <a:schemeClr val="lt1"/>
              </a:solidFill>
              <a:latin typeface="Urbanist"/>
              <a:ea typeface="Urbanist"/>
              <a:cs typeface="Urbanist"/>
              <a:sym typeface="Urbanist"/>
            </a:endParaRPr>
          </a:p>
          <a:p>
            <a:pPr indent="0" lvl="0" marL="0" rtl="0" algn="l">
              <a:lnSpc>
                <a:spcPct val="115000"/>
              </a:lnSpc>
              <a:spcBef>
                <a:spcPts val="0"/>
              </a:spcBef>
              <a:spcAft>
                <a:spcPts val="0"/>
              </a:spcAft>
              <a:buClr>
                <a:schemeClr val="dk1"/>
              </a:buClr>
              <a:buSzPts val="1100"/>
              <a:buFont typeface="Arial"/>
              <a:buNone/>
            </a:pPr>
            <a:r>
              <a:t/>
            </a:r>
            <a:endParaRPr>
              <a:solidFill>
                <a:schemeClr val="lt1"/>
              </a:solidFill>
              <a:latin typeface="Urbanist"/>
              <a:ea typeface="Urbanist"/>
              <a:cs typeface="Urbanist"/>
              <a:sym typeface="Urbanist"/>
            </a:endParaRPr>
          </a:p>
          <a:p>
            <a:pPr indent="0" lvl="0" marL="0" rtl="0" algn="l">
              <a:spcBef>
                <a:spcPts val="0"/>
              </a:spcBef>
              <a:spcAft>
                <a:spcPts val="0"/>
              </a:spcAft>
              <a:buNone/>
            </a:pPr>
            <a:r>
              <a:t/>
            </a:r>
            <a:endParaRPr>
              <a:solidFill>
                <a:schemeClr val="lt1"/>
              </a:solidFill>
              <a:latin typeface="Urbanist"/>
              <a:ea typeface="Urbanist"/>
              <a:cs typeface="Urbanist"/>
              <a:sym typeface="Urbanist"/>
            </a:endParaRPr>
          </a:p>
        </p:txBody>
      </p:sp>
      <p:pic>
        <p:nvPicPr>
          <p:cNvPr id="560" name="Google Shape;560;p45"/>
          <p:cNvPicPr preferRelativeResize="0"/>
          <p:nvPr/>
        </p:nvPicPr>
        <p:blipFill>
          <a:blip r:embed="rId3">
            <a:alphaModFix/>
          </a:blip>
          <a:stretch>
            <a:fillRect/>
          </a:stretch>
        </p:blipFill>
        <p:spPr>
          <a:xfrm>
            <a:off x="4019326" y="-6575"/>
            <a:ext cx="2403712" cy="1602077"/>
          </a:xfrm>
          <a:prstGeom prst="rect">
            <a:avLst/>
          </a:prstGeom>
          <a:noFill/>
          <a:ln>
            <a:noFill/>
          </a:ln>
        </p:spPr>
      </p:pic>
      <p:pic>
        <p:nvPicPr>
          <p:cNvPr id="561" name="Google Shape;561;p45"/>
          <p:cNvPicPr preferRelativeResize="0"/>
          <p:nvPr/>
        </p:nvPicPr>
        <p:blipFill>
          <a:blip r:embed="rId4">
            <a:alphaModFix/>
          </a:blip>
          <a:stretch>
            <a:fillRect/>
          </a:stretch>
        </p:blipFill>
        <p:spPr>
          <a:xfrm>
            <a:off x="3542248" y="719099"/>
            <a:ext cx="417000" cy="419450"/>
          </a:xfrm>
          <a:prstGeom prst="rect">
            <a:avLst/>
          </a:prstGeom>
          <a:noFill/>
          <a:ln>
            <a:noFill/>
          </a:ln>
        </p:spPr>
      </p:pic>
      <p:pic>
        <p:nvPicPr>
          <p:cNvPr id="562" name="Google Shape;562;p45"/>
          <p:cNvPicPr preferRelativeResize="0"/>
          <p:nvPr/>
        </p:nvPicPr>
        <p:blipFill>
          <a:blip r:embed="rId5">
            <a:alphaModFix/>
          </a:blip>
          <a:stretch>
            <a:fillRect/>
          </a:stretch>
        </p:blipFill>
        <p:spPr>
          <a:xfrm>
            <a:off x="7957575" y="512475"/>
            <a:ext cx="626074" cy="6260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1000"/>
                                        <p:tgtEl>
                                          <p:spTgt spid="55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1000"/>
                                        <p:tgtEl>
                                          <p:spTgt spid="541"/>
                                        </p:tgtEl>
                                      </p:cBhvr>
                                    </p:animEffect>
                                  </p:childTnLst>
                                </p:cTn>
                              </p:par>
                              <p:par>
                                <p:cTn fill="hold" nodeType="with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1000"/>
                                        <p:tgtEl>
                                          <p:spTgt spid="544"/>
                                        </p:tgtEl>
                                      </p:cBhvr>
                                    </p:animEffect>
                                  </p:childTnLst>
                                </p:cTn>
                              </p:par>
                              <p:par>
                                <p:cTn fill="hold" nodeType="withEffect" presetClass="entr" presetID="10" presetSubtype="0">
                                  <p:stCondLst>
                                    <p:cond delay="0"/>
                                  </p:stCondLst>
                                  <p:childTnLst>
                                    <p:set>
                                      <p:cBhvr>
                                        <p:cTn dur="1" fill="hold">
                                          <p:stCondLst>
                                            <p:cond delay="0"/>
                                          </p:stCondLst>
                                        </p:cTn>
                                        <p:tgtEl>
                                          <p:spTgt spid="545"/>
                                        </p:tgtEl>
                                        <p:attrNameLst>
                                          <p:attrName>style.visibility</p:attrName>
                                        </p:attrNameLst>
                                      </p:cBhvr>
                                      <p:to>
                                        <p:strVal val="visible"/>
                                      </p:to>
                                    </p:set>
                                    <p:animEffect filter="fade" transition="in">
                                      <p:cBhvr>
                                        <p:cTn dur="1000"/>
                                        <p:tgtEl>
                                          <p:spTgt spid="545"/>
                                        </p:tgtEl>
                                      </p:cBhvr>
                                    </p:animEffect>
                                  </p:childTnLst>
                                </p:cTn>
                              </p:par>
                              <p:par>
                                <p:cTn fill="hold" nodeType="withEffect" presetClass="entr" presetID="10" presetSubtype="0">
                                  <p:stCondLst>
                                    <p:cond delay="0"/>
                                  </p:stCondLst>
                                  <p:childTnLst>
                                    <p:set>
                                      <p:cBhvr>
                                        <p:cTn dur="1" fill="hold">
                                          <p:stCondLst>
                                            <p:cond delay="0"/>
                                          </p:stCondLst>
                                        </p:cTn>
                                        <p:tgtEl>
                                          <p:spTgt spid="560"/>
                                        </p:tgtEl>
                                        <p:attrNameLst>
                                          <p:attrName>style.visibility</p:attrName>
                                        </p:attrNameLst>
                                      </p:cBhvr>
                                      <p:to>
                                        <p:strVal val="visible"/>
                                      </p:to>
                                    </p:set>
                                    <p:animEffect filter="fade" transition="in">
                                      <p:cBhvr>
                                        <p:cTn dur="1000"/>
                                        <p:tgtEl>
                                          <p:spTgt spid="560"/>
                                        </p:tgtEl>
                                      </p:cBhvr>
                                    </p:animEffect>
                                  </p:childTnLst>
                                </p:cTn>
                              </p:par>
                              <p:par>
                                <p:cTn fill="hold" nodeType="with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1000"/>
                                        <p:tgtEl>
                                          <p:spTgt spid="5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1000"/>
                                        <p:tgtEl>
                                          <p:spTgt spid="540"/>
                                        </p:tgtEl>
                                      </p:cBhvr>
                                    </p:animEffect>
                                  </p:childTnLst>
                                </p:cTn>
                              </p:par>
                              <p:par>
                                <p:cTn fill="hold" nodeType="with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1700"/>
                                        <p:tgtEl>
                                          <p:spTgt spid="546"/>
                                        </p:tgtEl>
                                      </p:cBhvr>
                                    </p:animEffect>
                                  </p:childTnLst>
                                </p:cTn>
                              </p:par>
                              <p:par>
                                <p:cTn fill="hold" nodeType="with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1000"/>
                                        <p:tgtEl>
                                          <p:spTgt spid="547"/>
                                        </p:tgtEl>
                                      </p:cBhvr>
                                    </p:animEffect>
                                  </p:childTnLst>
                                </p:cTn>
                              </p:par>
                              <p:par>
                                <p:cTn fill="hold" nodeType="with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1000"/>
                                        <p:tgtEl>
                                          <p:spTgt spid="552"/>
                                        </p:tgtEl>
                                      </p:cBhvr>
                                    </p:animEffect>
                                  </p:childTnLst>
                                </p:cTn>
                              </p:par>
                              <p:par>
                                <p:cTn fill="hold" nodeType="withEffect" presetClass="entr" presetID="10" presetSubtype="0">
                                  <p:stCondLst>
                                    <p:cond delay="0"/>
                                  </p:stCondLst>
                                  <p:childTnLst>
                                    <p:set>
                                      <p:cBhvr>
                                        <p:cTn dur="1" fill="hold">
                                          <p:stCondLst>
                                            <p:cond delay="0"/>
                                          </p:stCondLst>
                                        </p:cTn>
                                        <p:tgtEl>
                                          <p:spTgt spid="562"/>
                                        </p:tgtEl>
                                        <p:attrNameLst>
                                          <p:attrName>style.visibility</p:attrName>
                                        </p:attrNameLst>
                                      </p:cBhvr>
                                      <p:to>
                                        <p:strVal val="visible"/>
                                      </p:to>
                                    </p:set>
                                    <p:animEffect filter="fade" transition="in">
                                      <p:cBhvr>
                                        <p:cTn dur="1000"/>
                                        <p:tgtEl>
                                          <p:spTgt spid="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1000"/>
                                        <p:tgtEl>
                                          <p:spTgt spid="556"/>
                                        </p:tgtEl>
                                      </p:cBhvr>
                                    </p:animEffect>
                                  </p:childTnLst>
                                </p:cTn>
                              </p:par>
                              <p:par>
                                <p:cTn fill="hold" nodeType="with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1000"/>
                                        <p:tgtEl>
                                          <p:spTgt spid="557"/>
                                        </p:tgtEl>
                                      </p:cBhvr>
                                    </p:animEffect>
                                  </p:childTnLst>
                                </p:cTn>
                              </p:par>
                              <p:par>
                                <p:cTn fill="hold" nodeType="withEffect" presetClass="entr" presetID="10" presetSubtype="0">
                                  <p:stCondLst>
                                    <p:cond delay="0"/>
                                  </p:stCondLst>
                                  <p:childTnLst>
                                    <p:set>
                                      <p:cBhvr>
                                        <p:cTn dur="1" fill="hold">
                                          <p:stCondLst>
                                            <p:cond delay="0"/>
                                          </p:stCondLst>
                                        </p:cTn>
                                        <p:tgtEl>
                                          <p:spTgt spid="558"/>
                                        </p:tgtEl>
                                        <p:attrNameLst>
                                          <p:attrName>style.visibility</p:attrName>
                                        </p:attrNameLst>
                                      </p:cBhvr>
                                      <p:to>
                                        <p:strVal val="visible"/>
                                      </p:to>
                                    </p:set>
                                    <p:animEffect filter="fade" transition="in">
                                      <p:cBhvr>
                                        <p:cTn dur="1000"/>
                                        <p:tgtEl>
                                          <p:spTgt spid="558"/>
                                        </p:tgtEl>
                                      </p:cBhvr>
                                    </p:animEffect>
                                  </p:childTnLst>
                                </p:cTn>
                              </p:par>
                              <p:par>
                                <p:cTn fill="hold" nodeType="withEffect" presetClass="entr" presetID="10" presetSubtype="0">
                                  <p:stCondLst>
                                    <p:cond delay="0"/>
                                  </p:stCondLst>
                                  <p:childTnLst>
                                    <p:set>
                                      <p:cBhvr>
                                        <p:cTn dur="1" fill="hold">
                                          <p:stCondLst>
                                            <p:cond delay="0"/>
                                          </p:stCondLst>
                                        </p:cTn>
                                        <p:tgtEl>
                                          <p:spTgt spid="559"/>
                                        </p:tgtEl>
                                        <p:attrNameLst>
                                          <p:attrName>style.visibility</p:attrName>
                                        </p:attrNameLst>
                                      </p:cBhvr>
                                      <p:to>
                                        <p:strVal val="visible"/>
                                      </p:to>
                                    </p:set>
                                    <p:animEffect filter="fade" transition="in">
                                      <p:cBhvr>
                                        <p:cTn dur="1000"/>
                                        <p:tgtEl>
                                          <p:spTgt spid="5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
                                        </p:tgtEl>
                                        <p:attrNameLst>
                                          <p:attrName>style.visibility</p:attrName>
                                        </p:attrNameLst>
                                      </p:cBhvr>
                                      <p:to>
                                        <p:strVal val="visible"/>
                                      </p:to>
                                    </p:set>
                                    <p:animEffect filter="fade" transition="in">
                                      <p:cBhvr>
                                        <p:cTn dur="1000"/>
                                        <p:tgtEl>
                                          <p:spTgt spid="543"/>
                                        </p:tgtEl>
                                      </p:cBhvr>
                                    </p:animEffect>
                                  </p:childTnLst>
                                </p:cTn>
                              </p:par>
                              <p:par>
                                <p:cTn fill="hold" nodeType="with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1000"/>
                                        <p:tgtEl>
                                          <p:spTgt spid="550"/>
                                        </p:tgtEl>
                                      </p:cBhvr>
                                    </p:animEffect>
                                  </p:childTnLst>
                                </p:cTn>
                              </p:par>
                              <p:par>
                                <p:cTn fill="hold" nodeType="with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1000"/>
                                        <p:tgtEl>
                                          <p:spTgt spid="5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1000"/>
                                        <p:tgtEl>
                                          <p:spTgt spid="542"/>
                                        </p:tgtEl>
                                      </p:cBhvr>
                                    </p:animEffect>
                                  </p:childTnLst>
                                </p:cTn>
                              </p:par>
                              <p:par>
                                <p:cTn fill="hold" nodeType="withEffect" presetClass="entr" presetID="10" presetSubtype="0">
                                  <p:stCondLst>
                                    <p:cond delay="0"/>
                                  </p:stCondLst>
                                  <p:childTnLst>
                                    <p:set>
                                      <p:cBhvr>
                                        <p:cTn dur="1" fill="hold">
                                          <p:stCondLst>
                                            <p:cond delay="0"/>
                                          </p:stCondLst>
                                        </p:cTn>
                                        <p:tgtEl>
                                          <p:spTgt spid="548"/>
                                        </p:tgtEl>
                                        <p:attrNameLst>
                                          <p:attrName>style.visibility</p:attrName>
                                        </p:attrNameLst>
                                      </p:cBhvr>
                                      <p:to>
                                        <p:strVal val="visible"/>
                                      </p:to>
                                    </p:set>
                                    <p:animEffect filter="fade" transition="in">
                                      <p:cBhvr>
                                        <p:cTn dur="1000"/>
                                        <p:tgtEl>
                                          <p:spTgt spid="548"/>
                                        </p:tgtEl>
                                      </p:cBhvr>
                                    </p:animEffect>
                                  </p:childTnLst>
                                </p:cTn>
                              </p:par>
                              <p:par>
                                <p:cTn fill="hold" nodeType="with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1000"/>
                                        <p:tgtEl>
                                          <p:spTgt spid="5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46"/>
          <p:cNvSpPr txBox="1"/>
          <p:nvPr>
            <p:ph type="title"/>
          </p:nvPr>
        </p:nvSpPr>
        <p:spPr>
          <a:xfrm>
            <a:off x="228600" y="290450"/>
            <a:ext cx="2438100" cy="5772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sz="3000"/>
              <a:t>Methodology </a:t>
            </a:r>
            <a:endParaRPr sz="3000"/>
          </a:p>
        </p:txBody>
      </p:sp>
      <p:sp>
        <p:nvSpPr>
          <p:cNvPr id="568" name="Google Shape;568;p4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Datathon 2025</a:t>
            </a:r>
            <a:endParaRPr/>
          </a:p>
        </p:txBody>
      </p:sp>
      <p:sp>
        <p:nvSpPr>
          <p:cNvPr id="569" name="Google Shape;569;p4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The Stellars</a:t>
            </a:r>
            <a:endParaRPr/>
          </a:p>
        </p:txBody>
      </p:sp>
      <p:sp>
        <p:nvSpPr>
          <p:cNvPr id="570" name="Google Shape;570;p46"/>
          <p:cNvSpPr txBox="1"/>
          <p:nvPr/>
        </p:nvSpPr>
        <p:spPr>
          <a:xfrm>
            <a:off x="1025650" y="90390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Urbanist"/>
                <a:ea typeface="Urbanist"/>
                <a:cs typeface="Urbanist"/>
                <a:sym typeface="Urbanist"/>
              </a:rPr>
              <a:t>Data Sources</a:t>
            </a:r>
            <a:endParaRPr>
              <a:solidFill>
                <a:schemeClr val="dk2"/>
              </a:solidFill>
              <a:latin typeface="Urbanist"/>
              <a:ea typeface="Urbanist"/>
              <a:cs typeface="Urbanist"/>
              <a:sym typeface="Urbanist"/>
            </a:endParaRPr>
          </a:p>
          <a:p>
            <a:pPr indent="0" lvl="0" marL="0" rtl="0" algn="l">
              <a:spcBef>
                <a:spcPts val="0"/>
              </a:spcBef>
              <a:spcAft>
                <a:spcPts val="0"/>
              </a:spcAft>
              <a:buNone/>
            </a:pPr>
            <a:r>
              <a:t/>
            </a:r>
            <a:endParaRPr>
              <a:solidFill>
                <a:schemeClr val="dk2"/>
              </a:solidFill>
              <a:latin typeface="Urbanist"/>
              <a:ea typeface="Urbanist"/>
              <a:cs typeface="Urbanist"/>
              <a:sym typeface="Urbanist"/>
            </a:endParaRPr>
          </a:p>
        </p:txBody>
      </p:sp>
      <p:sp>
        <p:nvSpPr>
          <p:cNvPr id="571" name="Google Shape;571;p46"/>
          <p:cNvSpPr txBox="1"/>
          <p:nvPr/>
        </p:nvSpPr>
        <p:spPr>
          <a:xfrm>
            <a:off x="1025650" y="13403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Urbanist"/>
                <a:ea typeface="Urbanist"/>
                <a:cs typeface="Urbanist"/>
                <a:sym typeface="Urbanist"/>
              </a:rPr>
              <a:t>Cleaning</a:t>
            </a:r>
            <a:endParaRPr/>
          </a:p>
        </p:txBody>
      </p:sp>
      <p:sp>
        <p:nvSpPr>
          <p:cNvPr id="572" name="Google Shape;572;p46"/>
          <p:cNvSpPr txBox="1"/>
          <p:nvPr/>
        </p:nvSpPr>
        <p:spPr>
          <a:xfrm>
            <a:off x="1025650" y="1776800"/>
            <a:ext cx="30342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Urbanist"/>
                <a:ea typeface="Urbanist"/>
                <a:cs typeface="Urbanist"/>
                <a:sym typeface="Urbanist"/>
              </a:rPr>
              <a:t>Feature Engineering</a:t>
            </a:r>
            <a:endParaRPr>
              <a:solidFill>
                <a:schemeClr val="dk2"/>
              </a:solidFill>
              <a:latin typeface="Urbanist"/>
              <a:ea typeface="Urbanist"/>
              <a:cs typeface="Urbanist"/>
              <a:sym typeface="Urbanist"/>
            </a:endParaRPr>
          </a:p>
          <a:p>
            <a:pPr indent="0" lvl="0" marL="0" rtl="0" algn="l">
              <a:spcBef>
                <a:spcPts val="0"/>
              </a:spcBef>
              <a:spcAft>
                <a:spcPts val="0"/>
              </a:spcAft>
              <a:buNone/>
            </a:pPr>
            <a:r>
              <a:t/>
            </a:r>
            <a:endParaRPr>
              <a:solidFill>
                <a:schemeClr val="dk2"/>
              </a:solidFill>
              <a:latin typeface="Urbanist"/>
              <a:ea typeface="Urbanist"/>
              <a:cs typeface="Urbanist"/>
              <a:sym typeface="Urbanist"/>
            </a:endParaRPr>
          </a:p>
          <a:p>
            <a:pPr indent="0" lvl="0" marL="0" rtl="0" algn="l">
              <a:spcBef>
                <a:spcPts val="0"/>
              </a:spcBef>
              <a:spcAft>
                <a:spcPts val="0"/>
              </a:spcAft>
              <a:buNone/>
            </a:pPr>
            <a:r>
              <a:rPr lang="en">
                <a:solidFill>
                  <a:schemeClr val="dk2"/>
                </a:solidFill>
                <a:latin typeface="Urbanist"/>
                <a:ea typeface="Urbanist"/>
                <a:cs typeface="Urbanist"/>
                <a:sym typeface="Urbanist"/>
              </a:rPr>
              <a:t>Anomaly Detection</a:t>
            </a:r>
            <a:endParaRPr>
              <a:solidFill>
                <a:schemeClr val="dk2"/>
              </a:solidFill>
              <a:latin typeface="Urbanist"/>
              <a:ea typeface="Urbanist"/>
              <a:cs typeface="Urbanist"/>
              <a:sym typeface="Urbanist"/>
            </a:endParaRPr>
          </a:p>
          <a:p>
            <a:pPr indent="0" lvl="0" marL="0" rtl="0" algn="l">
              <a:spcBef>
                <a:spcPts val="0"/>
              </a:spcBef>
              <a:spcAft>
                <a:spcPts val="0"/>
              </a:spcAft>
              <a:buNone/>
            </a:pPr>
            <a:r>
              <a:t/>
            </a:r>
            <a:endParaRPr>
              <a:solidFill>
                <a:schemeClr val="dk2"/>
              </a:solidFill>
              <a:latin typeface="Urbanist"/>
              <a:ea typeface="Urbanist"/>
              <a:cs typeface="Urbanist"/>
              <a:sym typeface="Urbanist"/>
            </a:endParaRPr>
          </a:p>
          <a:p>
            <a:pPr indent="0" lvl="0" marL="0" rtl="0" algn="l">
              <a:spcBef>
                <a:spcPts val="0"/>
              </a:spcBef>
              <a:spcAft>
                <a:spcPts val="0"/>
              </a:spcAft>
              <a:buNone/>
            </a:pPr>
            <a:r>
              <a:rPr lang="en">
                <a:solidFill>
                  <a:schemeClr val="dk2"/>
                </a:solidFill>
                <a:latin typeface="Urbanist"/>
                <a:ea typeface="Urbanist"/>
                <a:cs typeface="Urbanist"/>
                <a:sym typeface="Urbanist"/>
              </a:rPr>
              <a:t>Clustering</a:t>
            </a:r>
            <a:endParaRPr>
              <a:solidFill>
                <a:schemeClr val="dk2"/>
              </a:solidFill>
              <a:latin typeface="Urbanist"/>
              <a:ea typeface="Urbanist"/>
              <a:cs typeface="Urbanist"/>
              <a:sym typeface="Urbanist"/>
            </a:endParaRPr>
          </a:p>
          <a:p>
            <a:pPr indent="0" lvl="0" marL="0" rtl="0" algn="l">
              <a:spcBef>
                <a:spcPts val="0"/>
              </a:spcBef>
              <a:spcAft>
                <a:spcPts val="0"/>
              </a:spcAft>
              <a:buNone/>
            </a:pPr>
            <a:r>
              <a:t/>
            </a:r>
            <a:endParaRPr>
              <a:solidFill>
                <a:schemeClr val="dk2"/>
              </a:solidFill>
              <a:latin typeface="Urbanist"/>
              <a:ea typeface="Urbanist"/>
              <a:cs typeface="Urbanist"/>
              <a:sym typeface="Urbanist"/>
            </a:endParaRPr>
          </a:p>
          <a:p>
            <a:pPr indent="0" lvl="0" marL="0" rtl="0" algn="l">
              <a:spcBef>
                <a:spcPts val="0"/>
              </a:spcBef>
              <a:spcAft>
                <a:spcPts val="0"/>
              </a:spcAft>
              <a:buNone/>
            </a:pPr>
            <a:r>
              <a:rPr lang="en">
                <a:solidFill>
                  <a:schemeClr val="dk2"/>
                </a:solidFill>
                <a:latin typeface="Urbanist"/>
                <a:ea typeface="Urbanist"/>
                <a:cs typeface="Urbanist"/>
                <a:sym typeface="Urbanist"/>
              </a:rPr>
              <a:t>Visualization</a:t>
            </a:r>
            <a:endParaRPr>
              <a:solidFill>
                <a:schemeClr val="dk2"/>
              </a:solidFill>
              <a:latin typeface="Urbanist"/>
              <a:ea typeface="Urbanist"/>
              <a:cs typeface="Urbanist"/>
              <a:sym typeface="Urbanist"/>
            </a:endParaRPr>
          </a:p>
          <a:p>
            <a:pPr indent="0" lvl="0" marL="0" rtl="0" algn="l">
              <a:spcBef>
                <a:spcPts val="0"/>
              </a:spcBef>
              <a:spcAft>
                <a:spcPts val="0"/>
              </a:spcAft>
              <a:buNone/>
            </a:pPr>
            <a:r>
              <a:t/>
            </a:r>
            <a:endParaRPr>
              <a:solidFill>
                <a:schemeClr val="dk2"/>
              </a:solidFill>
              <a:latin typeface="Urbanist"/>
              <a:ea typeface="Urbanist"/>
              <a:cs typeface="Urbanist"/>
              <a:sym typeface="Urbanist"/>
            </a:endParaRPr>
          </a:p>
          <a:p>
            <a:pPr indent="0" lvl="0" marL="0" rtl="0" algn="l">
              <a:spcBef>
                <a:spcPts val="0"/>
              </a:spcBef>
              <a:spcAft>
                <a:spcPts val="0"/>
              </a:spcAft>
              <a:buNone/>
            </a:pPr>
            <a:r>
              <a:rPr lang="en">
                <a:solidFill>
                  <a:schemeClr val="dk2"/>
                </a:solidFill>
                <a:latin typeface="Urbanist"/>
                <a:ea typeface="Urbanist"/>
                <a:cs typeface="Urbanist"/>
                <a:sym typeface="Urbanist"/>
              </a:rPr>
              <a:t>Prediction</a:t>
            </a:r>
            <a:endParaRPr>
              <a:solidFill>
                <a:schemeClr val="dk2"/>
              </a:solidFill>
              <a:latin typeface="Urbanist"/>
              <a:ea typeface="Urbanist"/>
              <a:cs typeface="Urbanist"/>
              <a:sym typeface="Urbanist"/>
            </a:endParaRPr>
          </a:p>
        </p:txBody>
      </p:sp>
      <p:sp>
        <p:nvSpPr>
          <p:cNvPr id="573" name="Google Shape;573;p46"/>
          <p:cNvSpPr txBox="1"/>
          <p:nvPr/>
        </p:nvSpPr>
        <p:spPr>
          <a:xfrm>
            <a:off x="1025650" y="22132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grpSp>
        <p:nvGrpSpPr>
          <p:cNvPr id="574" name="Google Shape;574;p46"/>
          <p:cNvGrpSpPr/>
          <p:nvPr/>
        </p:nvGrpSpPr>
        <p:grpSpPr>
          <a:xfrm rot="5400000">
            <a:off x="747463" y="1426141"/>
            <a:ext cx="228589" cy="228623"/>
            <a:chOff x="1688332" y="4135245"/>
            <a:chExt cx="338700" cy="338700"/>
          </a:xfrm>
        </p:grpSpPr>
        <p:sp>
          <p:nvSpPr>
            <p:cNvPr id="575" name="Google Shape;575;p46"/>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576" name="Google Shape;576;p46"/>
            <p:cNvGrpSpPr/>
            <p:nvPr/>
          </p:nvGrpSpPr>
          <p:grpSpPr>
            <a:xfrm rot="-5400000">
              <a:off x="1787014" y="4262191"/>
              <a:ext cx="169598" cy="84809"/>
              <a:chOff x="498725" y="2069800"/>
              <a:chExt cx="205200" cy="102600"/>
            </a:xfrm>
          </p:grpSpPr>
          <p:cxnSp>
            <p:nvCxnSpPr>
              <p:cNvPr id="577" name="Google Shape;577;p46"/>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578" name="Google Shape;578;p46"/>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grpSp>
        <p:nvGrpSpPr>
          <p:cNvPr id="579" name="Google Shape;579;p46"/>
          <p:cNvGrpSpPr/>
          <p:nvPr/>
        </p:nvGrpSpPr>
        <p:grpSpPr>
          <a:xfrm rot="5400000">
            <a:off x="747463" y="1862591"/>
            <a:ext cx="228589" cy="228623"/>
            <a:chOff x="1688332" y="4135245"/>
            <a:chExt cx="338700" cy="338700"/>
          </a:xfrm>
        </p:grpSpPr>
        <p:sp>
          <p:nvSpPr>
            <p:cNvPr id="580" name="Google Shape;580;p46"/>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581" name="Google Shape;581;p46"/>
            <p:cNvGrpSpPr/>
            <p:nvPr/>
          </p:nvGrpSpPr>
          <p:grpSpPr>
            <a:xfrm rot="-5400000">
              <a:off x="1787014" y="4262191"/>
              <a:ext cx="169598" cy="84809"/>
              <a:chOff x="498725" y="2069800"/>
              <a:chExt cx="205200" cy="102600"/>
            </a:xfrm>
          </p:grpSpPr>
          <p:cxnSp>
            <p:nvCxnSpPr>
              <p:cNvPr id="582" name="Google Shape;582;p46"/>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583" name="Google Shape;583;p46"/>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grpSp>
        <p:nvGrpSpPr>
          <p:cNvPr id="584" name="Google Shape;584;p46"/>
          <p:cNvGrpSpPr/>
          <p:nvPr/>
        </p:nvGrpSpPr>
        <p:grpSpPr>
          <a:xfrm rot="5400000">
            <a:off x="747463" y="2260054"/>
            <a:ext cx="228589" cy="228623"/>
            <a:chOff x="1688332" y="4135245"/>
            <a:chExt cx="338700" cy="338700"/>
          </a:xfrm>
        </p:grpSpPr>
        <p:sp>
          <p:nvSpPr>
            <p:cNvPr id="585" name="Google Shape;585;p46"/>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586" name="Google Shape;586;p46"/>
            <p:cNvGrpSpPr/>
            <p:nvPr/>
          </p:nvGrpSpPr>
          <p:grpSpPr>
            <a:xfrm rot="-5400000">
              <a:off x="1787014" y="4262191"/>
              <a:ext cx="169598" cy="84809"/>
              <a:chOff x="498725" y="2069800"/>
              <a:chExt cx="205200" cy="102600"/>
            </a:xfrm>
          </p:grpSpPr>
          <p:cxnSp>
            <p:nvCxnSpPr>
              <p:cNvPr id="587" name="Google Shape;587;p46"/>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588" name="Google Shape;588;p46"/>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grpSp>
        <p:nvGrpSpPr>
          <p:cNvPr id="589" name="Google Shape;589;p46"/>
          <p:cNvGrpSpPr/>
          <p:nvPr/>
        </p:nvGrpSpPr>
        <p:grpSpPr>
          <a:xfrm rot="5400000">
            <a:off x="747463" y="2710529"/>
            <a:ext cx="228589" cy="228623"/>
            <a:chOff x="1688332" y="4135245"/>
            <a:chExt cx="338700" cy="338700"/>
          </a:xfrm>
        </p:grpSpPr>
        <p:sp>
          <p:nvSpPr>
            <p:cNvPr id="590" name="Google Shape;590;p46"/>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591" name="Google Shape;591;p46"/>
            <p:cNvGrpSpPr/>
            <p:nvPr/>
          </p:nvGrpSpPr>
          <p:grpSpPr>
            <a:xfrm rot="-5400000">
              <a:off x="1787014" y="4262191"/>
              <a:ext cx="169598" cy="84809"/>
              <a:chOff x="498725" y="2069800"/>
              <a:chExt cx="205200" cy="102600"/>
            </a:xfrm>
          </p:grpSpPr>
          <p:cxnSp>
            <p:nvCxnSpPr>
              <p:cNvPr id="592" name="Google Shape;592;p46"/>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593" name="Google Shape;593;p46"/>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grpSp>
        <p:nvGrpSpPr>
          <p:cNvPr id="594" name="Google Shape;594;p46"/>
          <p:cNvGrpSpPr/>
          <p:nvPr/>
        </p:nvGrpSpPr>
        <p:grpSpPr>
          <a:xfrm rot="5400000">
            <a:off x="747463" y="3161004"/>
            <a:ext cx="228589" cy="228623"/>
            <a:chOff x="1688332" y="4135245"/>
            <a:chExt cx="338700" cy="338700"/>
          </a:xfrm>
        </p:grpSpPr>
        <p:sp>
          <p:nvSpPr>
            <p:cNvPr id="595" name="Google Shape;595;p46"/>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596" name="Google Shape;596;p46"/>
            <p:cNvGrpSpPr/>
            <p:nvPr/>
          </p:nvGrpSpPr>
          <p:grpSpPr>
            <a:xfrm rot="-5400000">
              <a:off x="1787014" y="4262191"/>
              <a:ext cx="169598" cy="84809"/>
              <a:chOff x="498725" y="2069800"/>
              <a:chExt cx="205200" cy="102600"/>
            </a:xfrm>
          </p:grpSpPr>
          <p:cxnSp>
            <p:nvCxnSpPr>
              <p:cNvPr id="597" name="Google Shape;597;p46"/>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598" name="Google Shape;598;p46"/>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grpSp>
        <p:nvGrpSpPr>
          <p:cNvPr id="599" name="Google Shape;599;p46"/>
          <p:cNvGrpSpPr/>
          <p:nvPr/>
        </p:nvGrpSpPr>
        <p:grpSpPr>
          <a:xfrm rot="5400000">
            <a:off x="747463" y="3566029"/>
            <a:ext cx="228589" cy="228623"/>
            <a:chOff x="1688332" y="4135245"/>
            <a:chExt cx="338700" cy="338700"/>
          </a:xfrm>
        </p:grpSpPr>
        <p:sp>
          <p:nvSpPr>
            <p:cNvPr id="600" name="Google Shape;600;p46"/>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601" name="Google Shape;601;p46"/>
            <p:cNvGrpSpPr/>
            <p:nvPr/>
          </p:nvGrpSpPr>
          <p:grpSpPr>
            <a:xfrm rot="-5400000">
              <a:off x="1787014" y="4262191"/>
              <a:ext cx="169598" cy="84809"/>
              <a:chOff x="498725" y="2069800"/>
              <a:chExt cx="205200" cy="102600"/>
            </a:xfrm>
          </p:grpSpPr>
          <p:cxnSp>
            <p:nvCxnSpPr>
              <p:cNvPr id="602" name="Google Shape;602;p46"/>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603" name="Google Shape;603;p46"/>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grpSp>
        <p:nvGrpSpPr>
          <p:cNvPr id="604" name="Google Shape;604;p46"/>
          <p:cNvGrpSpPr/>
          <p:nvPr/>
        </p:nvGrpSpPr>
        <p:grpSpPr>
          <a:xfrm rot="5400000">
            <a:off x="747463" y="989691"/>
            <a:ext cx="228589" cy="228623"/>
            <a:chOff x="1688332" y="4135245"/>
            <a:chExt cx="338700" cy="338700"/>
          </a:xfrm>
        </p:grpSpPr>
        <p:sp>
          <p:nvSpPr>
            <p:cNvPr id="605" name="Google Shape;605;p46"/>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606" name="Google Shape;606;p46"/>
            <p:cNvGrpSpPr/>
            <p:nvPr/>
          </p:nvGrpSpPr>
          <p:grpSpPr>
            <a:xfrm rot="-5400000">
              <a:off x="1787014" y="4262191"/>
              <a:ext cx="169598" cy="84809"/>
              <a:chOff x="498725" y="2069800"/>
              <a:chExt cx="205200" cy="102600"/>
            </a:xfrm>
          </p:grpSpPr>
          <p:cxnSp>
            <p:nvCxnSpPr>
              <p:cNvPr id="607" name="Google Shape;607;p46"/>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608" name="Google Shape;608;p46"/>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609" name="Google Shape;609;p46">
            <a:hlinkClick r:id="rId3"/>
          </p:cNvPr>
          <p:cNvSpPr/>
          <p:nvPr/>
        </p:nvSpPr>
        <p:spPr>
          <a:xfrm>
            <a:off x="5614925" y="2082000"/>
            <a:ext cx="1758900" cy="662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u="sng">
                <a:solidFill>
                  <a:schemeClr val="lt1"/>
                </a:solidFill>
                <a:latin typeface="Urbanist"/>
                <a:ea typeface="Urbanist"/>
                <a:cs typeface="Urbanist"/>
                <a:sym typeface="Urbanist"/>
                <a:hlinkClick r:id="rId4">
                  <a:extLst>
                    <a:ext uri="{A12FA001-AC4F-418D-AE19-62706E023703}">
                      <ahyp:hlinkClr val="tx"/>
                    </a:ext>
                  </a:extLst>
                </a:hlinkClick>
              </a:rPr>
              <a:t>Click Here for Details</a:t>
            </a:r>
            <a:endParaRPr sz="900">
              <a:solidFill>
                <a:schemeClr val="lt1"/>
              </a:solidFill>
              <a:latin typeface="Urbanist"/>
              <a:ea typeface="Urbanist"/>
              <a:cs typeface="Urbanist"/>
              <a:sym typeface="Urbanis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47"/>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Datathon 2025</a:t>
            </a:r>
            <a:endParaRPr/>
          </a:p>
        </p:txBody>
      </p:sp>
      <p:sp>
        <p:nvSpPr>
          <p:cNvPr id="615" name="Google Shape;615;p47"/>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The Stellars</a:t>
            </a:r>
            <a:endParaRPr/>
          </a:p>
        </p:txBody>
      </p:sp>
      <p:pic>
        <p:nvPicPr>
          <p:cNvPr id="616" name="Google Shape;616;p47" title="Getting Started | UDL.mov">
            <a:hlinkClick r:id="rId3"/>
          </p:cNvPr>
          <p:cNvPicPr preferRelativeResize="0"/>
          <p:nvPr/>
        </p:nvPicPr>
        <p:blipFill>
          <a:blip r:embed="rId4">
            <a:alphaModFix/>
          </a:blip>
          <a:stretch>
            <a:fillRect/>
          </a:stretch>
        </p:blipFill>
        <p:spPr>
          <a:xfrm>
            <a:off x="138425" y="267938"/>
            <a:ext cx="4570551" cy="2149150"/>
          </a:xfrm>
          <a:prstGeom prst="rect">
            <a:avLst/>
          </a:prstGeom>
          <a:noFill/>
          <a:ln>
            <a:noFill/>
          </a:ln>
        </p:spPr>
      </p:pic>
      <p:pic>
        <p:nvPicPr>
          <p:cNvPr id="617" name="Google Shape;617;p47" title="Orbital Anomaly Detection.mov">
            <a:hlinkClick r:id="rId5"/>
          </p:cNvPr>
          <p:cNvPicPr preferRelativeResize="0"/>
          <p:nvPr/>
        </p:nvPicPr>
        <p:blipFill>
          <a:blip r:embed="rId6">
            <a:alphaModFix/>
          </a:blip>
          <a:stretch>
            <a:fillRect/>
          </a:stretch>
        </p:blipFill>
        <p:spPr>
          <a:xfrm>
            <a:off x="4095724" y="2417104"/>
            <a:ext cx="4570550" cy="2074945"/>
          </a:xfrm>
          <a:prstGeom prst="rect">
            <a:avLst/>
          </a:prstGeom>
          <a:noFill/>
          <a:ln>
            <a:noFill/>
          </a:ln>
        </p:spPr>
      </p:pic>
      <p:sp>
        <p:nvSpPr>
          <p:cNvPr id="618" name="Google Shape;618;p47"/>
          <p:cNvSpPr txBox="1"/>
          <p:nvPr/>
        </p:nvSpPr>
        <p:spPr>
          <a:xfrm>
            <a:off x="5548463" y="1479750"/>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dk2"/>
                </a:solidFill>
                <a:latin typeface="Urbanist"/>
                <a:ea typeface="Urbanist"/>
                <a:cs typeface="Urbanist"/>
                <a:sym typeface="Urbanist"/>
              </a:rPr>
              <a:t>Approach</a:t>
            </a:r>
            <a:endParaRPr sz="2800">
              <a:solidFill>
                <a:schemeClr val="dk2"/>
              </a:solidFill>
              <a:latin typeface="Urbanist"/>
              <a:ea typeface="Urbanist"/>
              <a:cs typeface="Urbanist"/>
              <a:sym typeface="Urbanist"/>
            </a:endParaRPr>
          </a:p>
          <a:p>
            <a:pPr indent="0" lvl="0" marL="0" rtl="0" algn="l">
              <a:spcBef>
                <a:spcPts val="0"/>
              </a:spcBef>
              <a:spcAft>
                <a:spcPts val="0"/>
              </a:spcAft>
              <a:buNone/>
            </a:pPr>
            <a:r>
              <a:t/>
            </a:r>
            <a:endParaRPr>
              <a:solidFill>
                <a:schemeClr val="dk2"/>
              </a:solidFill>
              <a:latin typeface="Urbanist"/>
              <a:ea typeface="Urbanist"/>
              <a:cs typeface="Urbanist"/>
              <a:sym typeface="Urbanist"/>
            </a:endParaRPr>
          </a:p>
        </p:txBody>
      </p:sp>
      <p:grpSp>
        <p:nvGrpSpPr>
          <p:cNvPr id="619" name="Google Shape;619;p47"/>
          <p:cNvGrpSpPr/>
          <p:nvPr/>
        </p:nvGrpSpPr>
        <p:grpSpPr>
          <a:xfrm rot="5400000">
            <a:off x="5199750" y="1687191"/>
            <a:ext cx="228589" cy="228622"/>
            <a:chOff x="1688332" y="4135245"/>
            <a:chExt cx="338700" cy="338700"/>
          </a:xfrm>
        </p:grpSpPr>
        <p:sp>
          <p:nvSpPr>
            <p:cNvPr id="620" name="Google Shape;620;p47"/>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621" name="Google Shape;621;p47"/>
            <p:cNvGrpSpPr/>
            <p:nvPr/>
          </p:nvGrpSpPr>
          <p:grpSpPr>
            <a:xfrm rot="-5400000">
              <a:off x="1787014" y="4262191"/>
              <a:ext cx="169598" cy="84809"/>
              <a:chOff x="498725" y="2069800"/>
              <a:chExt cx="205200" cy="102600"/>
            </a:xfrm>
          </p:grpSpPr>
          <p:cxnSp>
            <p:nvCxnSpPr>
              <p:cNvPr id="622" name="Google Shape;622;p47"/>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623" name="Google Shape;623;p47"/>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1000"/>
                                        <p:tgtEl>
                                          <p:spTgt spid="6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1000"/>
                                        <p:tgtEl>
                                          <p:spTgt spid="6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48"/>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Datathon 2025</a:t>
            </a:r>
            <a:endParaRPr/>
          </a:p>
        </p:txBody>
      </p:sp>
      <p:sp>
        <p:nvSpPr>
          <p:cNvPr id="629" name="Google Shape;629;p48"/>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The Stellars</a:t>
            </a:r>
            <a:endParaRPr/>
          </a:p>
        </p:txBody>
      </p:sp>
      <p:sp>
        <p:nvSpPr>
          <p:cNvPr id="630" name="Google Shape;630;p48"/>
          <p:cNvSpPr txBox="1"/>
          <p:nvPr>
            <p:ph idx="4294967295" type="title"/>
          </p:nvPr>
        </p:nvSpPr>
        <p:spPr>
          <a:xfrm>
            <a:off x="228600" y="102550"/>
            <a:ext cx="2700000" cy="572700"/>
          </a:xfrm>
          <a:prstGeom prst="rect">
            <a:avLst/>
          </a:prstGeom>
        </p:spPr>
        <p:txBody>
          <a:bodyPr anchorCtr="0" anchor="t" bIns="91425" lIns="91425" spcFirstLastPara="1" rIns="91425" wrap="square" tIns="91425">
            <a:noAutofit/>
          </a:bodyPr>
          <a:lstStyle/>
          <a:p>
            <a:pPr indent="0" lvl="0" marL="0" marR="0" rtl="0" algn="l">
              <a:lnSpc>
                <a:spcPct val="85000"/>
              </a:lnSpc>
              <a:spcBef>
                <a:spcPts val="0"/>
              </a:spcBef>
              <a:spcAft>
                <a:spcPts val="0"/>
              </a:spcAft>
              <a:buNone/>
            </a:pPr>
            <a:r>
              <a:rPr lang="en">
                <a:solidFill>
                  <a:schemeClr val="dk2"/>
                </a:solidFill>
              </a:rPr>
              <a:t>Key Findings</a:t>
            </a:r>
            <a:endParaRPr b="1" sz="3300">
              <a:latin typeface="Urbanist"/>
              <a:ea typeface="Urbanist"/>
              <a:cs typeface="Urbanist"/>
              <a:sym typeface="Urbanist"/>
            </a:endParaRPr>
          </a:p>
        </p:txBody>
      </p:sp>
      <p:sp>
        <p:nvSpPr>
          <p:cNvPr id="631" name="Google Shape;631;p48"/>
          <p:cNvSpPr txBox="1"/>
          <p:nvPr>
            <p:ph idx="4294967295" type="body"/>
          </p:nvPr>
        </p:nvSpPr>
        <p:spPr>
          <a:xfrm>
            <a:off x="384825" y="3666025"/>
            <a:ext cx="3847800" cy="6927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lang="en" sz="1100"/>
              <a:t>~3.5% of satellite orbital records flagged as anomalies using Z-score thresholds. It confirms our pipeline can detect unusual drag or orbital drift reliably.</a:t>
            </a:r>
            <a:endParaRPr sz="1500"/>
          </a:p>
        </p:txBody>
      </p:sp>
      <p:sp>
        <p:nvSpPr>
          <p:cNvPr id="632" name="Google Shape;632;p48"/>
          <p:cNvSpPr txBox="1"/>
          <p:nvPr>
            <p:ph idx="4294967295" type="subTitle"/>
          </p:nvPr>
        </p:nvSpPr>
        <p:spPr>
          <a:xfrm>
            <a:off x="934050" y="763050"/>
            <a:ext cx="2627100" cy="34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b="0" sz="1400"/>
          </a:p>
          <a:p>
            <a:pPr indent="0" lvl="0" marL="0" rtl="0" algn="l">
              <a:lnSpc>
                <a:spcPct val="100000"/>
              </a:lnSpc>
              <a:spcBef>
                <a:spcPts val="0"/>
              </a:spcBef>
              <a:spcAft>
                <a:spcPts val="0"/>
              </a:spcAft>
              <a:buClr>
                <a:schemeClr val="dk1"/>
              </a:buClr>
              <a:buSzPts val="1100"/>
              <a:buFont typeface="Arial"/>
              <a:buNone/>
            </a:pPr>
            <a:r>
              <a:rPr b="0" lang="en" sz="1400">
                <a:solidFill>
                  <a:schemeClr val="dk2"/>
                </a:solidFill>
              </a:rPr>
              <a:t>D</a:t>
            </a:r>
            <a:r>
              <a:rPr lang="en" sz="1400">
                <a:solidFill>
                  <a:schemeClr val="dk2"/>
                </a:solidFill>
              </a:rPr>
              <a:t>etecting Orbital Anomalies</a:t>
            </a:r>
            <a:endParaRPr b="0">
              <a:solidFill>
                <a:schemeClr val="dk2"/>
              </a:solidFill>
            </a:endParaRPr>
          </a:p>
        </p:txBody>
      </p:sp>
      <p:pic>
        <p:nvPicPr>
          <p:cNvPr id="633" name="Google Shape;633;p48"/>
          <p:cNvPicPr preferRelativeResize="0"/>
          <p:nvPr/>
        </p:nvPicPr>
        <p:blipFill>
          <a:blip r:embed="rId3">
            <a:alphaModFix/>
          </a:blip>
          <a:stretch>
            <a:fillRect/>
          </a:stretch>
        </p:blipFill>
        <p:spPr>
          <a:xfrm>
            <a:off x="405913" y="1249625"/>
            <a:ext cx="3847775" cy="2432975"/>
          </a:xfrm>
          <a:prstGeom prst="rect">
            <a:avLst/>
          </a:prstGeom>
          <a:noFill/>
          <a:ln>
            <a:noFill/>
          </a:ln>
        </p:spPr>
      </p:pic>
      <p:pic>
        <p:nvPicPr>
          <p:cNvPr id="634" name="Google Shape;634;p48"/>
          <p:cNvPicPr preferRelativeResize="0"/>
          <p:nvPr/>
        </p:nvPicPr>
        <p:blipFill>
          <a:blip r:embed="rId4">
            <a:alphaModFix/>
          </a:blip>
          <a:stretch>
            <a:fillRect/>
          </a:stretch>
        </p:blipFill>
        <p:spPr>
          <a:xfrm>
            <a:off x="4839125" y="1233050"/>
            <a:ext cx="3949875" cy="2432975"/>
          </a:xfrm>
          <a:prstGeom prst="rect">
            <a:avLst/>
          </a:prstGeom>
          <a:noFill/>
          <a:ln>
            <a:noFill/>
          </a:ln>
        </p:spPr>
      </p:pic>
      <p:sp>
        <p:nvSpPr>
          <p:cNvPr id="635" name="Google Shape;635;p48"/>
          <p:cNvSpPr txBox="1"/>
          <p:nvPr/>
        </p:nvSpPr>
        <p:spPr>
          <a:xfrm>
            <a:off x="5424250" y="8494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Urbanist"/>
                <a:ea typeface="Urbanist"/>
                <a:cs typeface="Urbanist"/>
                <a:sym typeface="Urbanist"/>
              </a:rPr>
              <a:t>Decay Events Are Clustered</a:t>
            </a:r>
            <a:endParaRPr/>
          </a:p>
        </p:txBody>
      </p:sp>
      <p:sp>
        <p:nvSpPr>
          <p:cNvPr id="636" name="Google Shape;636;p48"/>
          <p:cNvSpPr txBox="1"/>
          <p:nvPr/>
        </p:nvSpPr>
        <p:spPr>
          <a:xfrm>
            <a:off x="4758725" y="3666025"/>
            <a:ext cx="43854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Urbanist"/>
                <a:ea typeface="Urbanist"/>
                <a:cs typeface="Urbanist"/>
                <a:sym typeface="Urbanist"/>
              </a:rPr>
              <a:t>Decay reentries show clear surges — stable through 2010–2018, rising from 2021, and peaking late 2024–early 2025 (≈2,300+ monthly reentries). It indicates external triggers (e.g., space weather storms, congestion) and validates the need for predictive modeling.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30"/>
                                        </p:tgtEl>
                                        <p:attrNameLst>
                                          <p:attrName>style.visibility</p:attrName>
                                        </p:attrNameLst>
                                      </p:cBhvr>
                                      <p:to>
                                        <p:strVal val="visible"/>
                                      </p:to>
                                    </p:set>
                                    <p:animEffect filter="fade" transition="in">
                                      <p:cBhvr>
                                        <p:cTn dur="1000"/>
                                        <p:tgtEl>
                                          <p:spTgt spid="63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32"/>
                                        </p:tgtEl>
                                        <p:attrNameLst>
                                          <p:attrName>style.visibility</p:attrName>
                                        </p:attrNameLst>
                                      </p:cBhvr>
                                      <p:to>
                                        <p:strVal val="visible"/>
                                      </p:to>
                                    </p:set>
                                    <p:animEffect filter="fade" transition="in">
                                      <p:cBhvr>
                                        <p:cTn dur="1000"/>
                                        <p:tgtEl>
                                          <p:spTgt spid="632"/>
                                        </p:tgtEl>
                                      </p:cBhvr>
                                    </p:animEffect>
                                  </p:childTnLst>
                                </p:cTn>
                              </p:par>
                              <p:par>
                                <p:cTn fill="hold" nodeType="withEffect" presetClass="entr" presetID="10" presetSubtype="0">
                                  <p:stCondLst>
                                    <p:cond delay="0"/>
                                  </p:stCondLst>
                                  <p:childTnLst>
                                    <p:set>
                                      <p:cBhvr>
                                        <p:cTn dur="1" fill="hold">
                                          <p:stCondLst>
                                            <p:cond delay="0"/>
                                          </p:stCondLst>
                                        </p:cTn>
                                        <p:tgtEl>
                                          <p:spTgt spid="633"/>
                                        </p:tgtEl>
                                        <p:attrNameLst>
                                          <p:attrName>style.visibility</p:attrName>
                                        </p:attrNameLst>
                                      </p:cBhvr>
                                      <p:to>
                                        <p:strVal val="visible"/>
                                      </p:to>
                                    </p:set>
                                    <p:animEffect filter="fade" transition="in">
                                      <p:cBhvr>
                                        <p:cTn dur="1000"/>
                                        <p:tgtEl>
                                          <p:spTgt spid="633"/>
                                        </p:tgtEl>
                                      </p:cBhvr>
                                    </p:animEffect>
                                  </p:childTnLst>
                                </p:cTn>
                              </p:par>
                              <p:par>
                                <p:cTn fill="hold" nodeType="with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1000"/>
                                        <p:tgtEl>
                                          <p:spTgt spid="6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49"/>
          <p:cNvSpPr txBox="1"/>
          <p:nvPr>
            <p:ph type="title"/>
          </p:nvPr>
        </p:nvSpPr>
        <p:spPr>
          <a:xfrm>
            <a:off x="228600" y="116150"/>
            <a:ext cx="3848400" cy="392400"/>
          </a:xfrm>
          <a:prstGeom prst="rect">
            <a:avLst/>
          </a:prstGeom>
        </p:spPr>
        <p:txBody>
          <a:bodyPr anchorCtr="0" anchor="t" bIns="0" lIns="0" spcFirstLastPara="1" rIns="0" wrap="square" tIns="0">
            <a:spAutoFit/>
          </a:bodyPr>
          <a:lstStyle/>
          <a:p>
            <a:pPr indent="0" lvl="0" marL="0" marR="0" rtl="0" algn="l">
              <a:lnSpc>
                <a:spcPct val="85000"/>
              </a:lnSpc>
              <a:spcBef>
                <a:spcPts val="0"/>
              </a:spcBef>
              <a:spcAft>
                <a:spcPts val="0"/>
              </a:spcAft>
              <a:buNone/>
            </a:pPr>
            <a:r>
              <a:rPr lang="en" sz="3000"/>
              <a:t>Starlink Case Study</a:t>
            </a:r>
            <a:endParaRPr/>
          </a:p>
        </p:txBody>
      </p:sp>
      <p:sp>
        <p:nvSpPr>
          <p:cNvPr id="642" name="Google Shape;642;p49"/>
          <p:cNvSpPr txBox="1"/>
          <p:nvPr>
            <p:ph idx="1" type="body"/>
          </p:nvPr>
        </p:nvSpPr>
        <p:spPr>
          <a:xfrm>
            <a:off x="310800" y="737150"/>
            <a:ext cx="4722900" cy="33375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None/>
            </a:pPr>
            <a:r>
              <a:rPr b="1" lang="en" sz="1100"/>
              <a:t>Event: </a:t>
            </a:r>
            <a:r>
              <a:rPr lang="en" sz="1100"/>
              <a:t>Feb 2022 geomagnetic storm caused </a:t>
            </a:r>
            <a:r>
              <a:rPr b="1" lang="en" sz="1100"/>
              <a:t>38 Starlink satellites</a:t>
            </a:r>
            <a:r>
              <a:rPr lang="en" sz="1100"/>
              <a:t> to fail within days of launch.</a:t>
            </a:r>
            <a:endParaRPr sz="1100"/>
          </a:p>
          <a:p>
            <a:pPr indent="0" lvl="0" marL="0" rtl="0" algn="l">
              <a:lnSpc>
                <a:spcPct val="115000"/>
              </a:lnSpc>
              <a:spcBef>
                <a:spcPts val="1200"/>
              </a:spcBef>
              <a:spcAft>
                <a:spcPts val="0"/>
              </a:spcAft>
              <a:buClr>
                <a:schemeClr val="dk1"/>
              </a:buClr>
              <a:buSzPts val="1100"/>
              <a:buNone/>
            </a:pPr>
            <a:r>
              <a:rPr b="1" lang="en" sz="1100"/>
              <a:t>Cause: </a:t>
            </a:r>
            <a:r>
              <a:rPr lang="en" sz="1100"/>
              <a:t>Increased atmospheric drag (captured by </a:t>
            </a:r>
            <a:r>
              <a:rPr b="1" lang="en" sz="1100"/>
              <a:t>BSTAR spikes</a:t>
            </a:r>
            <a:r>
              <a:rPr lang="en" sz="1100"/>
              <a:t>) + low-altitude injection at </a:t>
            </a:r>
            <a:r>
              <a:rPr b="1" lang="en" sz="1100"/>
              <a:t>400–425 km</a:t>
            </a:r>
            <a:r>
              <a:rPr lang="en" sz="1100"/>
              <a:t>.</a:t>
            </a:r>
            <a:endParaRPr sz="1100"/>
          </a:p>
          <a:p>
            <a:pPr indent="0" lvl="0" marL="0" rtl="0" algn="l">
              <a:lnSpc>
                <a:spcPct val="115000"/>
              </a:lnSpc>
              <a:spcBef>
                <a:spcPts val="1200"/>
              </a:spcBef>
              <a:spcAft>
                <a:spcPts val="0"/>
              </a:spcAft>
              <a:buClr>
                <a:schemeClr val="dk1"/>
              </a:buClr>
              <a:buSzPts val="1100"/>
              <a:buNone/>
            </a:pPr>
            <a:r>
              <a:rPr b="1" lang="en" sz="1100"/>
              <a:t>Insights: </a:t>
            </a:r>
            <a:r>
              <a:rPr lang="en" sz="1100"/>
              <a:t>Satellites showed </a:t>
            </a:r>
            <a:r>
              <a:rPr b="1" lang="en" sz="1100"/>
              <a:t>HP_KM drops, mean motion uptick, and BSTAR spikes</a:t>
            </a:r>
            <a:r>
              <a:rPr lang="en" sz="1100"/>
              <a:t> under drag stress, with </a:t>
            </a:r>
            <a:r>
              <a:rPr b="1" lang="en" sz="1100"/>
              <a:t>400–425 km congestion compounding risk</a:t>
            </a:r>
            <a:r>
              <a:rPr lang="en" sz="1100"/>
              <a:t>.</a:t>
            </a:r>
            <a:endParaRPr sz="1100"/>
          </a:p>
          <a:p>
            <a:pPr indent="0" lvl="0" marL="0" marR="0" rtl="0" algn="l">
              <a:lnSpc>
                <a:spcPct val="115000"/>
              </a:lnSpc>
              <a:spcBef>
                <a:spcPts val="1200"/>
              </a:spcBef>
              <a:spcAft>
                <a:spcPts val="0"/>
              </a:spcAft>
              <a:buNone/>
            </a:pPr>
            <a:r>
              <a:rPr b="1" lang="en" sz="1100"/>
              <a:t>Impact: </a:t>
            </a:r>
            <a:r>
              <a:rPr lang="en" sz="1100"/>
              <a:t>Combining </a:t>
            </a:r>
            <a:r>
              <a:rPr lang="en" sz="1200"/>
              <a:t>anomaly</a:t>
            </a:r>
            <a:r>
              <a:rPr lang="en" sz="1100"/>
              <a:t> detection with congestion heatmaps could have flagged </a:t>
            </a:r>
            <a:r>
              <a:rPr lang="en" sz="1200"/>
              <a:t>the</a:t>
            </a:r>
            <a:r>
              <a:rPr lang="en" sz="1100"/>
              <a:t> risk early, underscoring the value of </a:t>
            </a:r>
            <a:r>
              <a:rPr b="1" lang="en" sz="1100"/>
              <a:t>early warning systems for mega-constellations like Starlink</a:t>
            </a:r>
            <a:r>
              <a:rPr lang="en" sz="1100"/>
              <a:t>.</a:t>
            </a:r>
            <a:endParaRPr sz="1100"/>
          </a:p>
          <a:p>
            <a:pPr indent="0" lvl="0" marL="0" rtl="0" algn="l">
              <a:lnSpc>
                <a:spcPct val="115000"/>
              </a:lnSpc>
              <a:spcBef>
                <a:spcPts val="1200"/>
              </a:spcBef>
              <a:spcAft>
                <a:spcPts val="0"/>
              </a:spcAft>
              <a:buClr>
                <a:schemeClr val="dk1"/>
              </a:buClr>
              <a:buSzPts val="1100"/>
              <a:buNone/>
            </a:pPr>
            <a:r>
              <a:t/>
            </a:r>
            <a:endParaRPr b="1" sz="1100">
              <a:latin typeface="Arial"/>
              <a:ea typeface="Arial"/>
              <a:cs typeface="Arial"/>
              <a:sym typeface="Arial"/>
            </a:endParaRPr>
          </a:p>
          <a:p>
            <a:pPr indent="0" lvl="0" marL="0" rtl="0" algn="l">
              <a:lnSpc>
                <a:spcPct val="115000"/>
              </a:lnSpc>
              <a:spcBef>
                <a:spcPts val="0"/>
              </a:spcBef>
              <a:spcAft>
                <a:spcPts val="0"/>
              </a:spcAft>
              <a:buClr>
                <a:schemeClr val="dk1"/>
              </a:buClr>
              <a:buSzPts val="1100"/>
              <a:buNone/>
            </a:pPr>
            <a:r>
              <a:t/>
            </a:r>
            <a:endParaRPr/>
          </a:p>
        </p:txBody>
      </p:sp>
      <p:sp>
        <p:nvSpPr>
          <p:cNvPr id="643" name="Google Shape;643;p49"/>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Datathon 2025</a:t>
            </a:r>
            <a:endParaRPr/>
          </a:p>
        </p:txBody>
      </p:sp>
      <p:sp>
        <p:nvSpPr>
          <p:cNvPr id="644" name="Google Shape;644;p49"/>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The Stellars</a:t>
            </a:r>
            <a:endParaRPr/>
          </a:p>
        </p:txBody>
      </p:sp>
      <p:sp>
        <p:nvSpPr>
          <p:cNvPr id="645" name="Google Shape;645;p49"/>
          <p:cNvSpPr txBox="1"/>
          <p:nvPr/>
        </p:nvSpPr>
        <p:spPr>
          <a:xfrm>
            <a:off x="5482074" y="508550"/>
            <a:ext cx="2756100" cy="228600"/>
          </a:xfrm>
          <a:prstGeom prst="rect">
            <a:avLst/>
          </a:prstGeom>
          <a:noFill/>
          <a:ln>
            <a:noFill/>
          </a:ln>
        </p:spPr>
        <p:txBody>
          <a:bodyPr anchorCtr="0" anchor="ctr" bIns="91425" lIns="91425" spcFirstLastPara="1" rIns="91425" wrap="square" tIns="91425">
            <a:noAutofit/>
          </a:bodyPr>
          <a:lstStyle/>
          <a:p>
            <a:pPr indent="0" lvl="0" marL="0" marR="0" rtl="0" algn="l">
              <a:lnSpc>
                <a:spcPct val="85000"/>
              </a:lnSpc>
              <a:spcBef>
                <a:spcPts val="0"/>
              </a:spcBef>
              <a:spcAft>
                <a:spcPts val="0"/>
              </a:spcAft>
              <a:buNone/>
            </a:pPr>
            <a:r>
              <a:rPr lang="en" sz="2500">
                <a:solidFill>
                  <a:schemeClr val="dk2"/>
                </a:solidFill>
                <a:latin typeface="Urbanist Medium"/>
                <a:ea typeface="Urbanist Medium"/>
                <a:cs typeface="Urbanist Medium"/>
                <a:sym typeface="Urbanist Medium"/>
              </a:rPr>
              <a:t>38 Satellites Lost</a:t>
            </a:r>
            <a:endParaRPr b="1" sz="2500">
              <a:solidFill>
                <a:schemeClr val="lt1"/>
              </a:solidFill>
              <a:latin typeface="Urbanist"/>
              <a:ea typeface="Urbanist"/>
              <a:cs typeface="Urbanist"/>
              <a:sym typeface="Urbanist"/>
            </a:endParaRPr>
          </a:p>
        </p:txBody>
      </p:sp>
      <p:pic>
        <p:nvPicPr>
          <p:cNvPr id="646" name="Google Shape;646;p49" title="250822-F-AF000-4583.jpeg"/>
          <p:cNvPicPr preferRelativeResize="0"/>
          <p:nvPr/>
        </p:nvPicPr>
        <p:blipFill>
          <a:blip r:embed="rId3">
            <a:alphaModFix/>
          </a:blip>
          <a:stretch>
            <a:fillRect/>
          </a:stretch>
        </p:blipFill>
        <p:spPr>
          <a:xfrm>
            <a:off x="5162324" y="825997"/>
            <a:ext cx="3549752" cy="2365924"/>
          </a:xfrm>
          <a:prstGeom prst="rect">
            <a:avLst/>
          </a:prstGeom>
          <a:noFill/>
          <a:ln>
            <a:noFill/>
          </a:ln>
        </p:spPr>
      </p:pic>
      <p:pic>
        <p:nvPicPr>
          <p:cNvPr id="647" name="Google Shape;647;p49" title="Screenshot 2025-09-14 at 9.59.53 PM.png"/>
          <p:cNvPicPr preferRelativeResize="0"/>
          <p:nvPr/>
        </p:nvPicPr>
        <p:blipFill>
          <a:blip r:embed="rId4">
            <a:alphaModFix/>
          </a:blip>
          <a:stretch>
            <a:fillRect/>
          </a:stretch>
        </p:blipFill>
        <p:spPr>
          <a:xfrm>
            <a:off x="1979550" y="3441863"/>
            <a:ext cx="4686300" cy="1171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1000"/>
                                        <p:tgtEl>
                                          <p:spTgt spid="64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45"/>
                                        </p:tgtEl>
                                        <p:attrNameLst>
                                          <p:attrName>style.visibility</p:attrName>
                                        </p:attrNameLst>
                                      </p:cBhvr>
                                      <p:to>
                                        <p:strVal val="visible"/>
                                      </p:to>
                                    </p:set>
                                    <p:animEffect filter="fade" transition="in">
                                      <p:cBhvr>
                                        <p:cTn dur="1000"/>
                                        <p:tgtEl>
                                          <p:spTgt spid="64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46"/>
                                        </p:tgtEl>
                                        <p:attrNameLst>
                                          <p:attrName>style.visibility</p:attrName>
                                        </p:attrNameLst>
                                      </p:cBhvr>
                                      <p:to>
                                        <p:strVal val="visible"/>
                                      </p:to>
                                    </p:set>
                                    <p:animEffect filter="fade" transition="in">
                                      <p:cBhvr>
                                        <p:cTn dur="1000"/>
                                        <p:tgtEl>
                                          <p:spTgt spid="646"/>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647"/>
                                        </p:tgtEl>
                                        <p:attrNameLst>
                                          <p:attrName>style.visibility</p:attrName>
                                        </p:attrNameLst>
                                      </p:cBhvr>
                                      <p:to>
                                        <p:strVal val="visible"/>
                                      </p:to>
                                    </p:set>
                                    <p:animEffect filter="fade" transition="in">
                                      <p:cBhvr>
                                        <p:cTn dur="1000"/>
                                        <p:tgtEl>
                                          <p:spTgt spid="6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50">
            <a:hlinkClick r:id="rId3"/>
          </p:cNvPr>
          <p:cNvSpPr/>
          <p:nvPr/>
        </p:nvSpPr>
        <p:spPr>
          <a:xfrm>
            <a:off x="3201600" y="1894650"/>
            <a:ext cx="2834700" cy="1354200"/>
          </a:xfrm>
          <a:prstGeom prst="roundRect">
            <a:avLst>
              <a:gd fmla="val 13866"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53" name="Google Shape;653;p50"/>
          <p:cNvSpPr txBox="1"/>
          <p:nvPr>
            <p:ph type="title"/>
          </p:nvPr>
        </p:nvSpPr>
        <p:spPr>
          <a:xfrm>
            <a:off x="237650" y="746900"/>
            <a:ext cx="8745900" cy="737400"/>
          </a:xfrm>
          <a:prstGeom prst="rect">
            <a:avLst/>
          </a:prstGeom>
        </p:spPr>
        <p:txBody>
          <a:bodyPr anchorCtr="0" anchor="ctr" bIns="91425" lIns="0" spcFirstLastPara="1" rIns="91425" wrap="square" tIns="0">
            <a:noAutofit/>
          </a:bodyPr>
          <a:lstStyle/>
          <a:p>
            <a:pPr indent="0" lvl="0" marL="0" rtl="0" algn="ctr">
              <a:spcBef>
                <a:spcPts val="0"/>
              </a:spcBef>
              <a:spcAft>
                <a:spcPts val="0"/>
              </a:spcAft>
              <a:buNone/>
            </a:pPr>
            <a:r>
              <a:rPr b="1" lang="en" sz="3600"/>
              <a:t>  </a:t>
            </a:r>
            <a:r>
              <a:rPr b="1" lang="en" sz="3600"/>
              <a:t>VISUALIZATIONS</a:t>
            </a:r>
            <a:endParaRPr b="1" sz="3600"/>
          </a:p>
        </p:txBody>
      </p:sp>
      <p:sp>
        <p:nvSpPr>
          <p:cNvPr id="654" name="Google Shape;654;p50"/>
          <p:cNvSpPr txBox="1"/>
          <p:nvPr>
            <p:ph idx="5" type="subTitle"/>
          </p:nvPr>
        </p:nvSpPr>
        <p:spPr>
          <a:xfrm>
            <a:off x="5149175" y="94175"/>
            <a:ext cx="2834700" cy="330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t/>
            </a:r>
            <a:endParaRPr b="1" sz="1400"/>
          </a:p>
          <a:p>
            <a:pPr indent="0" lvl="0" marL="0" rtl="0" algn="l">
              <a:spcBef>
                <a:spcPts val="0"/>
              </a:spcBef>
              <a:spcAft>
                <a:spcPts val="0"/>
              </a:spcAft>
              <a:buNone/>
            </a:pPr>
            <a:r>
              <a:t/>
            </a:r>
            <a:endParaRPr/>
          </a:p>
        </p:txBody>
      </p:sp>
      <p:sp>
        <p:nvSpPr>
          <p:cNvPr id="655" name="Google Shape;655;p50"/>
          <p:cNvSpPr txBox="1"/>
          <p:nvPr>
            <p:ph idx="15" type="subTitle"/>
          </p:nvPr>
        </p:nvSpPr>
        <p:spPr>
          <a:xfrm>
            <a:off x="3332850" y="2190788"/>
            <a:ext cx="2478300" cy="330000"/>
          </a:xfrm>
          <a:prstGeom prst="rect">
            <a:avLst/>
          </a:prstGeom>
        </p:spPr>
        <p:txBody>
          <a:bodyPr anchorCtr="0" anchor="t" bIns="91425" lIns="0" spcFirstLastPara="1" rIns="91425" wrap="square" tIns="0">
            <a:noAutofit/>
          </a:bodyPr>
          <a:lstStyle/>
          <a:p>
            <a:pPr indent="0" lvl="0" marL="0" rtl="0" algn="ctr">
              <a:spcBef>
                <a:spcPts val="0"/>
              </a:spcBef>
              <a:spcAft>
                <a:spcPts val="0"/>
              </a:spcAft>
              <a:buNone/>
            </a:pPr>
            <a:r>
              <a:rPr lang="en" u="none"/>
              <a:t>Link to Github</a:t>
            </a:r>
            <a:endParaRPr u="none"/>
          </a:p>
          <a:p>
            <a:pPr indent="0" lvl="0" marL="0" rtl="0" algn="ctr">
              <a:spcBef>
                <a:spcPts val="0"/>
              </a:spcBef>
              <a:spcAft>
                <a:spcPts val="0"/>
              </a:spcAft>
              <a:buNone/>
            </a:pPr>
            <a:r>
              <a:rPr lang="en" sz="1000" u="sng">
                <a:solidFill>
                  <a:schemeClr val="lt1"/>
                </a:solidFill>
                <a:hlinkClick r:id="rId4">
                  <a:extLst>
                    <a:ext uri="{A12FA001-AC4F-418D-AE19-62706E023703}">
                      <ahyp:hlinkClr val="tx"/>
                    </a:ext>
                  </a:extLst>
                </a:hlinkClick>
              </a:rPr>
              <a:t>Click Here</a:t>
            </a:r>
            <a:endParaRPr sz="1000" u="none">
              <a:solidFill>
                <a:schemeClr val="lt1"/>
              </a:solidFill>
            </a:endParaRPr>
          </a:p>
        </p:txBody>
      </p:sp>
      <p:sp>
        <p:nvSpPr>
          <p:cNvPr id="656" name="Google Shape;656;p50"/>
          <p:cNvSpPr txBox="1"/>
          <p:nvPr/>
        </p:nvSpPr>
        <p:spPr>
          <a:xfrm>
            <a:off x="320625" y="4675975"/>
            <a:ext cx="2700000" cy="236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700">
                <a:solidFill>
                  <a:srgbClr val="F5F5F5"/>
                </a:solidFill>
                <a:latin typeface="Urbanist Medium"/>
                <a:ea typeface="Urbanist Medium"/>
                <a:cs typeface="Urbanist Medium"/>
                <a:sym typeface="Urbanist Medium"/>
              </a:rPr>
              <a:t>The Stellars</a:t>
            </a:r>
            <a:endParaRPr sz="700">
              <a:solidFill>
                <a:srgbClr val="F5F5F5"/>
              </a:solidFill>
              <a:latin typeface="Urbanist Medium"/>
              <a:ea typeface="Urbanist Medium"/>
              <a:cs typeface="Urbanist Medium"/>
              <a:sym typeface="Urbanist Medium"/>
            </a:endParaRPr>
          </a:p>
        </p:txBody>
      </p:sp>
      <p:sp>
        <p:nvSpPr>
          <p:cNvPr id="657" name="Google Shape;657;p50"/>
          <p:cNvSpPr txBox="1"/>
          <p:nvPr/>
        </p:nvSpPr>
        <p:spPr>
          <a:xfrm>
            <a:off x="6859200" y="4683725"/>
            <a:ext cx="2056500"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r>
              <a:rPr lang="en" sz="700">
                <a:solidFill>
                  <a:srgbClr val="F5F5F5"/>
                </a:solidFill>
                <a:latin typeface="Urbanist Medium"/>
                <a:ea typeface="Urbanist Medium"/>
                <a:cs typeface="Urbanist Medium"/>
                <a:sym typeface="Urbanist Medium"/>
              </a:rPr>
              <a:t>Datathon 2025</a:t>
            </a:r>
            <a:endParaRPr sz="700">
              <a:solidFill>
                <a:srgbClr val="F5F5F5"/>
              </a:solidFill>
              <a:latin typeface="Urbanist Medium"/>
              <a:ea typeface="Urbanist Medium"/>
              <a:cs typeface="Urbanist Medium"/>
              <a:sym typeface="Urbanist Medium"/>
            </a:endParaRPr>
          </a:p>
        </p:txBody>
      </p:sp>
      <p:sp>
        <p:nvSpPr>
          <p:cNvPr id="658" name="Google Shape;658;p50"/>
          <p:cNvSpPr txBox="1"/>
          <p:nvPr/>
        </p:nvSpPr>
        <p:spPr>
          <a:xfrm>
            <a:off x="-3963350" y="576575"/>
            <a:ext cx="3874500" cy="11649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0"/>
              </a:spcAft>
              <a:buNone/>
            </a:pPr>
            <a:r>
              <a:rPr b="1" lang="en" sz="1100">
                <a:solidFill>
                  <a:srgbClr val="FF0000"/>
                </a:solidFill>
              </a:rPr>
              <a:t> Solution or Tool Highlights (1 minute)</a:t>
            </a:r>
            <a:endParaRPr sz="1100">
              <a:solidFill>
                <a:srgbClr val="FF0000"/>
              </a:solidFill>
            </a:endParaRPr>
          </a:p>
          <a:p>
            <a:pPr indent="-298450" lvl="0" marL="457200" rtl="0" algn="l">
              <a:lnSpc>
                <a:spcPct val="115000"/>
              </a:lnSpc>
              <a:spcBef>
                <a:spcPts val="1200"/>
              </a:spcBef>
              <a:spcAft>
                <a:spcPts val="0"/>
              </a:spcAft>
              <a:buClr>
                <a:srgbClr val="FF0000"/>
              </a:buClr>
              <a:buSzPts val="1100"/>
              <a:buChar char="●"/>
            </a:pPr>
            <a:r>
              <a:rPr lang="en" sz="1100">
                <a:solidFill>
                  <a:srgbClr val="FF0000"/>
                </a:solidFill>
              </a:rPr>
              <a:t>Summarize your project deliverable (e.g., prototype dashboard, risk model, report).</a:t>
            </a:r>
            <a:br>
              <a:rPr lang="en" sz="1100">
                <a:solidFill>
                  <a:srgbClr val="FF0000"/>
                </a:solidFill>
              </a:rPr>
            </a:br>
            <a:endParaRPr sz="1100">
              <a:solidFill>
                <a:srgbClr val="FF0000"/>
              </a:solidFill>
            </a:endParaRPr>
          </a:p>
          <a:p>
            <a:pPr indent="-298450" lvl="0" marL="457200" rtl="0" algn="l">
              <a:lnSpc>
                <a:spcPct val="115000"/>
              </a:lnSpc>
              <a:spcBef>
                <a:spcPts val="0"/>
              </a:spcBef>
              <a:spcAft>
                <a:spcPts val="0"/>
              </a:spcAft>
              <a:buClr>
                <a:srgbClr val="FF0000"/>
              </a:buClr>
              <a:buSzPts val="1100"/>
              <a:buChar char="●"/>
            </a:pPr>
            <a:r>
              <a:rPr lang="en" sz="1100">
                <a:solidFill>
                  <a:srgbClr val="FF0000"/>
                </a:solidFill>
              </a:rPr>
              <a:t>Emphasize how your solution contributes to better space situational awareness.</a:t>
            </a:r>
            <a:br>
              <a:rPr lang="en" sz="1100">
                <a:solidFill>
                  <a:srgbClr val="FF0000"/>
                </a:solidFill>
              </a:rPr>
            </a:br>
            <a:endParaRPr sz="1100">
              <a:solidFill>
                <a:srgbClr val="FF0000"/>
              </a:solidFill>
            </a:endParaRPr>
          </a:p>
          <a:p>
            <a:pPr indent="-298450" lvl="0" marL="457200" rtl="0" algn="l">
              <a:lnSpc>
                <a:spcPct val="115000"/>
              </a:lnSpc>
              <a:spcBef>
                <a:spcPts val="0"/>
              </a:spcBef>
              <a:spcAft>
                <a:spcPts val="0"/>
              </a:spcAft>
              <a:buClr>
                <a:srgbClr val="FF0000"/>
              </a:buClr>
              <a:buSzPts val="1100"/>
              <a:buChar char="●"/>
            </a:pPr>
            <a:r>
              <a:rPr lang="en" sz="1100">
                <a:solidFill>
                  <a:srgbClr val="FF0000"/>
                </a:solidFill>
              </a:rPr>
              <a:t>Discuss its potential applications, scalability, or ethical considerations.</a:t>
            </a:r>
            <a:br>
              <a:rPr lang="en" sz="1100">
                <a:solidFill>
                  <a:srgbClr val="FF0000"/>
                </a:solidFill>
              </a:rPr>
            </a:br>
            <a:endParaRPr sz="1100">
              <a:solidFill>
                <a:srgbClr val="FF0000"/>
              </a:solidFill>
            </a:endParaRPr>
          </a:p>
          <a:p>
            <a:pPr indent="-298450" lvl="0" marL="457200" rtl="0" algn="l">
              <a:lnSpc>
                <a:spcPct val="115000"/>
              </a:lnSpc>
              <a:spcBef>
                <a:spcPts val="0"/>
              </a:spcBef>
              <a:spcAft>
                <a:spcPts val="0"/>
              </a:spcAft>
              <a:buClr>
                <a:srgbClr val="FF0000"/>
              </a:buClr>
              <a:buSzPts val="1100"/>
              <a:buChar char="●"/>
            </a:pPr>
            <a:r>
              <a:rPr lang="en" sz="1100">
                <a:solidFill>
                  <a:srgbClr val="FF0000"/>
                </a:solidFill>
              </a:rPr>
              <a:t>If applicable, describe how your work improves accessibility or understanding of complex space data.</a:t>
            </a:r>
            <a:endParaRPr sz="1200">
              <a:solidFill>
                <a:srgbClr val="FF0000"/>
              </a:solidFill>
              <a:latin typeface="Urbanist"/>
              <a:ea typeface="Urbanist"/>
              <a:cs typeface="Urbanist"/>
              <a:sym typeface="Urbanis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51"/>
          <p:cNvSpPr txBox="1"/>
          <p:nvPr>
            <p:ph idx="6" type="subTitle"/>
          </p:nvPr>
        </p:nvSpPr>
        <p:spPr>
          <a:xfrm>
            <a:off x="234000" y="4280363"/>
            <a:ext cx="8582100" cy="236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100">
                <a:solidFill>
                  <a:schemeClr val="accent4"/>
                </a:solidFill>
              </a:rPr>
              <a:t>From research to operations, correlations connect orbital features to real-world decay and safety outcomes.</a:t>
            </a:r>
            <a:endParaRPr sz="1100">
              <a:solidFill>
                <a:schemeClr val="accent4"/>
              </a:solidFill>
            </a:endParaRPr>
          </a:p>
          <a:p>
            <a:pPr indent="0" lvl="0" marL="0" rtl="0" algn="ctr">
              <a:spcBef>
                <a:spcPts val="0"/>
              </a:spcBef>
              <a:spcAft>
                <a:spcPts val="0"/>
              </a:spcAft>
              <a:buNone/>
            </a:pPr>
            <a:r>
              <a:t/>
            </a:r>
            <a:endParaRPr sz="1100"/>
          </a:p>
        </p:txBody>
      </p:sp>
      <p:sp>
        <p:nvSpPr>
          <p:cNvPr id="664" name="Google Shape;664;p51"/>
          <p:cNvSpPr txBox="1"/>
          <p:nvPr>
            <p:ph idx="1" type="body"/>
          </p:nvPr>
        </p:nvSpPr>
        <p:spPr>
          <a:xfrm>
            <a:off x="142250" y="1334950"/>
            <a:ext cx="4296600" cy="2413500"/>
          </a:xfrm>
          <a:prstGeom prst="rect">
            <a:avLst/>
          </a:prstGeom>
        </p:spPr>
        <p:txBody>
          <a:bodyPr anchorCtr="0" anchor="b" bIns="91425" lIns="0" spcFirstLastPara="1" rIns="91425" wrap="square" tIns="91425">
            <a:noAutofit/>
          </a:bodyPr>
          <a:lstStyle/>
          <a:p>
            <a:pPr indent="-298450" lvl="0" marL="457200" rtl="0" algn="l">
              <a:spcBef>
                <a:spcPts val="0"/>
              </a:spcBef>
              <a:spcAft>
                <a:spcPts val="0"/>
              </a:spcAft>
              <a:buSzPts val="1100"/>
              <a:buFont typeface="Arial"/>
              <a:buChar char="●"/>
            </a:pPr>
            <a:r>
              <a:rPr lang="en" sz="1100"/>
              <a:t>Strong negative correlation: HP_KM ↔ Mean Motion → perigee loss means faster orbit decay.</a:t>
            </a:r>
            <a:br>
              <a:rPr lang="en" sz="1100"/>
            </a:br>
            <a:endParaRPr sz="1100"/>
          </a:p>
          <a:p>
            <a:pPr indent="-298450" lvl="0" marL="457200" rtl="0" algn="l">
              <a:spcBef>
                <a:spcPts val="0"/>
              </a:spcBef>
              <a:spcAft>
                <a:spcPts val="0"/>
              </a:spcAft>
              <a:buSzPts val="1100"/>
              <a:buFont typeface="Arial"/>
              <a:buChar char="●"/>
            </a:pPr>
            <a:r>
              <a:rPr lang="en" sz="1100"/>
              <a:t>BSTAR positively correlated with anomalies → confirms drag as a key driver.</a:t>
            </a:r>
            <a:br>
              <a:rPr lang="en" sz="1100"/>
            </a:br>
            <a:endParaRPr sz="1100"/>
          </a:p>
          <a:p>
            <a:pPr indent="-298450" lvl="0" marL="457200" rtl="0" algn="l">
              <a:spcBef>
                <a:spcPts val="0"/>
              </a:spcBef>
              <a:spcAft>
                <a:spcPts val="0"/>
              </a:spcAft>
              <a:buSzPts val="1100"/>
              <a:buFont typeface="Arial"/>
              <a:buChar char="●"/>
            </a:pPr>
            <a:r>
              <a:rPr lang="en" sz="1100"/>
              <a:t>Helps researchers/operators understand which orbital features predict instability.</a:t>
            </a:r>
            <a:endParaRPr b="1" sz="1100"/>
          </a:p>
          <a:p>
            <a:pPr indent="0" lvl="0" marL="0" rtl="0" algn="l">
              <a:spcBef>
                <a:spcPts val="800"/>
              </a:spcBef>
              <a:spcAft>
                <a:spcPts val="800"/>
              </a:spcAft>
              <a:buNone/>
            </a:pPr>
            <a:r>
              <a:t/>
            </a:r>
            <a:endParaRPr/>
          </a:p>
        </p:txBody>
      </p:sp>
      <p:sp>
        <p:nvSpPr>
          <p:cNvPr id="665" name="Google Shape;665;p51"/>
          <p:cNvSpPr/>
          <p:nvPr>
            <p:ph idx="2" type="pic"/>
          </p:nvPr>
        </p:nvSpPr>
        <p:spPr>
          <a:xfrm>
            <a:off x="5381650" y="1474950"/>
            <a:ext cx="3389700" cy="2192400"/>
          </a:xfrm>
          <a:prstGeom prst="roundRect">
            <a:avLst>
              <a:gd fmla="val 16667" name="adj"/>
            </a:avLst>
          </a:prstGeom>
        </p:spPr>
      </p:sp>
      <p:sp>
        <p:nvSpPr>
          <p:cNvPr id="666" name="Google Shape;666;p51"/>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The Stellars</a:t>
            </a:r>
            <a:endParaRPr/>
          </a:p>
        </p:txBody>
      </p:sp>
      <p:sp>
        <p:nvSpPr>
          <p:cNvPr id="667" name="Google Shape;667;p51"/>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668" name="Google Shape;668;p51"/>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Datathon 2025</a:t>
            </a:r>
            <a:endParaRPr/>
          </a:p>
        </p:txBody>
      </p:sp>
      <p:sp>
        <p:nvSpPr>
          <p:cNvPr id="669" name="Google Shape;669;p51"/>
          <p:cNvSpPr txBox="1"/>
          <p:nvPr>
            <p:ph type="title"/>
          </p:nvPr>
        </p:nvSpPr>
        <p:spPr>
          <a:xfrm>
            <a:off x="214350" y="377125"/>
            <a:ext cx="8621400" cy="4848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000"/>
              <a:t>Feature Correlations in Orbital Data</a:t>
            </a:r>
            <a:endParaRPr sz="3000"/>
          </a:p>
        </p:txBody>
      </p:sp>
      <p:pic>
        <p:nvPicPr>
          <p:cNvPr id="670" name="Google Shape;670;p51"/>
          <p:cNvPicPr preferRelativeResize="0"/>
          <p:nvPr/>
        </p:nvPicPr>
        <p:blipFill>
          <a:blip r:embed="rId3">
            <a:alphaModFix/>
          </a:blip>
          <a:stretch>
            <a:fillRect/>
          </a:stretch>
        </p:blipFill>
        <p:spPr>
          <a:xfrm>
            <a:off x="4438838" y="856388"/>
            <a:ext cx="4469025" cy="32570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52"/>
          <p:cNvSpPr txBox="1"/>
          <p:nvPr>
            <p:ph idx="1" type="body"/>
          </p:nvPr>
        </p:nvSpPr>
        <p:spPr>
          <a:xfrm>
            <a:off x="275400" y="1273050"/>
            <a:ext cx="4296600" cy="2363700"/>
          </a:xfrm>
          <a:prstGeom prst="rect">
            <a:avLst/>
          </a:prstGeom>
        </p:spPr>
        <p:txBody>
          <a:bodyPr anchorCtr="0" anchor="b" bIns="91425" lIns="0" spcFirstLastPara="1" rIns="91425" wrap="square" tIns="91425">
            <a:noAutofit/>
          </a:bodyPr>
          <a:lstStyle/>
          <a:p>
            <a:pPr indent="-298450" lvl="0" marL="457200" rtl="0" algn="l">
              <a:lnSpc>
                <a:spcPct val="200000"/>
              </a:lnSpc>
              <a:spcBef>
                <a:spcPts val="0"/>
              </a:spcBef>
              <a:spcAft>
                <a:spcPts val="0"/>
              </a:spcAft>
              <a:buSzPts val="1100"/>
              <a:buFont typeface="Arial"/>
              <a:buChar char="●"/>
            </a:pPr>
            <a:r>
              <a:rPr lang="en" sz="1100"/>
              <a:t>Operators (e.g., SpaceX, NOAA) can use these BSTAR spikes to trigger </a:t>
            </a:r>
            <a:r>
              <a:rPr b="1" lang="en" sz="1100"/>
              <a:t>reboost maneuvers</a:t>
            </a:r>
            <a:r>
              <a:rPr lang="en" sz="1100"/>
              <a:t> before decay risk increases.</a:t>
            </a:r>
            <a:endParaRPr sz="1100"/>
          </a:p>
          <a:p>
            <a:pPr indent="-298450" lvl="0" marL="457200" rtl="0" algn="l">
              <a:lnSpc>
                <a:spcPct val="200000"/>
              </a:lnSpc>
              <a:spcBef>
                <a:spcPts val="0"/>
              </a:spcBef>
              <a:spcAft>
                <a:spcPts val="0"/>
              </a:spcAft>
              <a:buSzPts val="1100"/>
              <a:buChar char="●"/>
            </a:pPr>
            <a:r>
              <a:rPr lang="en" sz="1100"/>
              <a:t>BSTAR anomaly spikes = early drag signals.</a:t>
            </a:r>
            <a:endParaRPr sz="1100"/>
          </a:p>
          <a:p>
            <a:pPr indent="-298450" lvl="0" marL="457200" rtl="0" algn="l">
              <a:lnSpc>
                <a:spcPct val="200000"/>
              </a:lnSpc>
              <a:spcBef>
                <a:spcPts val="0"/>
              </a:spcBef>
              <a:spcAft>
                <a:spcPts val="0"/>
              </a:spcAft>
              <a:buSzPts val="1100"/>
              <a:buChar char="●"/>
            </a:pPr>
            <a:r>
              <a:rPr lang="en" sz="1100"/>
              <a:t>Helps operators avoid unexpected reentries.</a:t>
            </a:r>
            <a:endParaRPr sz="1100"/>
          </a:p>
          <a:p>
            <a:pPr indent="-298450" lvl="0" marL="457200" rtl="0" algn="l">
              <a:lnSpc>
                <a:spcPct val="200000"/>
              </a:lnSpc>
              <a:spcBef>
                <a:spcPts val="0"/>
              </a:spcBef>
              <a:spcAft>
                <a:spcPts val="0"/>
              </a:spcAft>
              <a:buSzPts val="1100"/>
              <a:buChar char="●"/>
            </a:pPr>
            <a:r>
              <a:rPr lang="en" sz="1100"/>
              <a:t>Supports safe maneuver planning.</a:t>
            </a:r>
            <a:endParaRPr sz="1100"/>
          </a:p>
          <a:p>
            <a:pPr indent="0" lvl="0" marL="0" rtl="0" algn="l">
              <a:spcBef>
                <a:spcPts val="800"/>
              </a:spcBef>
              <a:spcAft>
                <a:spcPts val="800"/>
              </a:spcAft>
              <a:buNone/>
            </a:pPr>
            <a:r>
              <a:t/>
            </a:r>
            <a:endParaRPr sz="1100">
              <a:latin typeface="Arial"/>
              <a:ea typeface="Arial"/>
              <a:cs typeface="Arial"/>
              <a:sym typeface="Arial"/>
            </a:endParaRPr>
          </a:p>
        </p:txBody>
      </p:sp>
      <p:sp>
        <p:nvSpPr>
          <p:cNvPr id="676" name="Google Shape;676;p52"/>
          <p:cNvSpPr/>
          <p:nvPr>
            <p:ph idx="2" type="pic"/>
          </p:nvPr>
        </p:nvSpPr>
        <p:spPr>
          <a:xfrm>
            <a:off x="5342100" y="1895400"/>
            <a:ext cx="2777700" cy="1348500"/>
          </a:xfrm>
          <a:prstGeom prst="roundRect">
            <a:avLst>
              <a:gd fmla="val 16667" name="adj"/>
            </a:avLst>
          </a:prstGeom>
        </p:spPr>
      </p:sp>
      <p:sp>
        <p:nvSpPr>
          <p:cNvPr id="677" name="Google Shape;677;p52"/>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The Stellars</a:t>
            </a:r>
            <a:endParaRPr/>
          </a:p>
        </p:txBody>
      </p:sp>
      <p:sp>
        <p:nvSpPr>
          <p:cNvPr id="678" name="Google Shape;678;p52"/>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679" name="Google Shape;679;p52"/>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Datathon 2025</a:t>
            </a:r>
            <a:endParaRPr/>
          </a:p>
        </p:txBody>
      </p:sp>
      <p:sp>
        <p:nvSpPr>
          <p:cNvPr id="680" name="Google Shape;680;p52"/>
          <p:cNvSpPr txBox="1"/>
          <p:nvPr>
            <p:ph idx="6" type="subTitle"/>
          </p:nvPr>
        </p:nvSpPr>
        <p:spPr>
          <a:xfrm>
            <a:off x="319950" y="3997925"/>
            <a:ext cx="8598000" cy="228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i="1" lang="en" sz="1100">
                <a:solidFill>
                  <a:schemeClr val="accent4"/>
                </a:solidFill>
              </a:rPr>
              <a:t>For satellite operators: BSTAR anomaly monitoring enables proactive maneuvers, reducing reentry losses and enhancing mission safety.</a:t>
            </a:r>
            <a:endParaRPr i="1" sz="1100">
              <a:solidFill>
                <a:schemeClr val="accent4"/>
              </a:solidFill>
            </a:endParaRPr>
          </a:p>
        </p:txBody>
      </p:sp>
      <p:sp>
        <p:nvSpPr>
          <p:cNvPr id="681" name="Google Shape;681;p52"/>
          <p:cNvSpPr txBox="1"/>
          <p:nvPr>
            <p:ph type="title"/>
          </p:nvPr>
        </p:nvSpPr>
        <p:spPr>
          <a:xfrm>
            <a:off x="228600" y="613525"/>
            <a:ext cx="8849100" cy="4848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000"/>
              <a:t>BSTAR Anomalies as Early-Warning for Operators</a:t>
            </a:r>
            <a:endParaRPr sz="3000"/>
          </a:p>
        </p:txBody>
      </p:sp>
      <p:pic>
        <p:nvPicPr>
          <p:cNvPr id="682" name="Google Shape;682;p52"/>
          <p:cNvPicPr preferRelativeResize="0"/>
          <p:nvPr/>
        </p:nvPicPr>
        <p:blipFill rotWithShape="1">
          <a:blip r:embed="rId3">
            <a:alphaModFix/>
          </a:blip>
          <a:srcRect b="0" l="2460" r="-2460" t="0"/>
          <a:stretch/>
        </p:blipFill>
        <p:spPr>
          <a:xfrm>
            <a:off x="4652850" y="1201475"/>
            <a:ext cx="4346299" cy="2504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53"/>
          <p:cNvSpPr txBox="1"/>
          <p:nvPr>
            <p:ph idx="1" type="body"/>
          </p:nvPr>
        </p:nvSpPr>
        <p:spPr>
          <a:xfrm>
            <a:off x="275400" y="1248575"/>
            <a:ext cx="4296600" cy="2473500"/>
          </a:xfrm>
          <a:prstGeom prst="rect">
            <a:avLst/>
          </a:prstGeom>
        </p:spPr>
        <p:txBody>
          <a:bodyPr anchorCtr="0" anchor="b" bIns="91425" lIns="0" spcFirstLastPara="1" rIns="91425" wrap="square" tIns="91425">
            <a:noAutofit/>
          </a:bodyPr>
          <a:lstStyle/>
          <a:p>
            <a:pPr indent="-298450" lvl="0" marL="457200" rtl="0" algn="l">
              <a:spcBef>
                <a:spcPts val="0"/>
              </a:spcBef>
              <a:spcAft>
                <a:spcPts val="0"/>
              </a:spcAft>
              <a:buSzPts val="1100"/>
              <a:buChar char="●"/>
            </a:pPr>
            <a:r>
              <a:rPr lang="en" sz="1100"/>
              <a:t>Shows how long satellites from different launch decades survive in orbit.</a:t>
            </a:r>
            <a:br>
              <a:rPr lang="en" sz="1100"/>
            </a:br>
            <a:endParaRPr sz="1100"/>
          </a:p>
          <a:p>
            <a:pPr indent="-298450" lvl="0" marL="457200" rtl="0" algn="l">
              <a:spcBef>
                <a:spcPts val="0"/>
              </a:spcBef>
              <a:spcAft>
                <a:spcPts val="0"/>
              </a:spcAft>
              <a:buSzPts val="1100"/>
              <a:buChar char="●"/>
            </a:pPr>
            <a:r>
              <a:rPr lang="en" sz="1100"/>
              <a:t>Older cohorts (1960s–1990s) decayed faster due to weaker designs &amp; higher drag.</a:t>
            </a:r>
            <a:br>
              <a:rPr lang="en" sz="1100"/>
            </a:br>
            <a:endParaRPr sz="1100"/>
          </a:p>
          <a:p>
            <a:pPr indent="-298450" lvl="0" marL="457200" rtl="0" algn="l">
              <a:spcBef>
                <a:spcPts val="0"/>
              </a:spcBef>
              <a:spcAft>
                <a:spcPts val="0"/>
              </a:spcAft>
              <a:buSzPts val="1100"/>
              <a:buChar char="●"/>
            </a:pPr>
            <a:r>
              <a:rPr lang="en" sz="1100"/>
              <a:t>Modern constellations (2010s–2020s) survive longer, but storms still cause sharp drops.</a:t>
            </a:r>
            <a:br>
              <a:rPr lang="en" sz="1100"/>
            </a:br>
            <a:endParaRPr sz="1100"/>
          </a:p>
          <a:p>
            <a:pPr indent="-298450" lvl="0" marL="457200" rtl="0" algn="l">
              <a:spcBef>
                <a:spcPts val="0"/>
              </a:spcBef>
              <a:spcAft>
                <a:spcPts val="0"/>
              </a:spcAft>
              <a:buSzPts val="1100"/>
              <a:buFont typeface="Arial"/>
              <a:buChar char="●"/>
            </a:pPr>
            <a:r>
              <a:rPr lang="en" sz="1100"/>
              <a:t>Helps operators &amp; policy makers </a:t>
            </a:r>
            <a:r>
              <a:rPr b="1" lang="en" sz="1100"/>
              <a:t>benchmark design lifetimes</a:t>
            </a:r>
            <a:r>
              <a:rPr lang="en" sz="1100"/>
              <a:t> and set </a:t>
            </a:r>
            <a:r>
              <a:rPr b="1" lang="en" sz="1100"/>
              <a:t>debris mitigation policies</a:t>
            </a:r>
            <a:r>
              <a:rPr lang="en" sz="1100"/>
              <a:t>.</a:t>
            </a:r>
            <a:endParaRPr/>
          </a:p>
        </p:txBody>
      </p:sp>
      <p:sp>
        <p:nvSpPr>
          <p:cNvPr id="688" name="Google Shape;688;p53"/>
          <p:cNvSpPr/>
          <p:nvPr>
            <p:ph idx="2" type="pic"/>
          </p:nvPr>
        </p:nvSpPr>
        <p:spPr>
          <a:xfrm>
            <a:off x="5342000" y="1595425"/>
            <a:ext cx="2700000" cy="2260200"/>
          </a:xfrm>
          <a:prstGeom prst="roundRect">
            <a:avLst>
              <a:gd fmla="val 16667" name="adj"/>
            </a:avLst>
          </a:prstGeom>
        </p:spPr>
      </p:sp>
      <p:sp>
        <p:nvSpPr>
          <p:cNvPr id="689" name="Google Shape;689;p53"/>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The Stellars</a:t>
            </a:r>
            <a:endParaRPr/>
          </a:p>
        </p:txBody>
      </p:sp>
      <p:sp>
        <p:nvSpPr>
          <p:cNvPr id="690" name="Google Shape;690;p53"/>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691" name="Google Shape;691;p53"/>
          <p:cNvSpPr txBox="1"/>
          <p:nvPr>
            <p:ph idx="5" type="subTitle"/>
          </p:nvPr>
        </p:nvSpPr>
        <p:spPr>
          <a:xfrm>
            <a:off x="6858900" y="467987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Datathon 2025</a:t>
            </a:r>
            <a:endParaRPr/>
          </a:p>
        </p:txBody>
      </p:sp>
      <p:sp>
        <p:nvSpPr>
          <p:cNvPr id="692" name="Google Shape;692;p53"/>
          <p:cNvSpPr txBox="1"/>
          <p:nvPr>
            <p:ph idx="6" type="subTitle"/>
          </p:nvPr>
        </p:nvSpPr>
        <p:spPr>
          <a:xfrm>
            <a:off x="219450" y="3976450"/>
            <a:ext cx="8705100" cy="228600"/>
          </a:xfrm>
          <a:prstGeom prst="rect">
            <a:avLst/>
          </a:prstGeom>
        </p:spPr>
        <p:txBody>
          <a:bodyPr anchorCtr="0" anchor="t" bIns="0" lIns="0" spcFirstLastPara="1" rIns="0" wrap="square" tIns="0">
            <a:noAutofit/>
          </a:bodyPr>
          <a:lstStyle/>
          <a:p>
            <a:pPr indent="0" lvl="0" marL="0" rtl="0" algn="ctr">
              <a:lnSpc>
                <a:spcPct val="115000"/>
              </a:lnSpc>
              <a:spcBef>
                <a:spcPts val="1200"/>
              </a:spcBef>
              <a:spcAft>
                <a:spcPts val="0"/>
              </a:spcAft>
              <a:buClr>
                <a:schemeClr val="dk1"/>
              </a:buClr>
              <a:buSzPts val="1100"/>
              <a:buFont typeface="Arial"/>
              <a:buNone/>
            </a:pPr>
            <a:r>
              <a:rPr i="1" lang="en" sz="1100">
                <a:solidFill>
                  <a:schemeClr val="accent4"/>
                </a:solidFill>
                <a:latin typeface="Urbanist"/>
                <a:ea typeface="Urbanist"/>
                <a:cs typeface="Urbanist"/>
                <a:sym typeface="Urbanist"/>
              </a:rPr>
              <a:t>For policy makers &amp; regulators: survival analysis guides safe deorbit timelines and sustainable constellation planning.</a:t>
            </a:r>
            <a:endParaRPr i="1" sz="1100">
              <a:solidFill>
                <a:schemeClr val="accent4"/>
              </a:solidFill>
              <a:latin typeface="Urbanist"/>
              <a:ea typeface="Urbanist"/>
              <a:cs typeface="Urbanist"/>
              <a:sym typeface="Urbanist"/>
            </a:endParaRPr>
          </a:p>
          <a:p>
            <a:pPr indent="0" lvl="0" marL="0" rtl="0" algn="ctr">
              <a:spcBef>
                <a:spcPts val="1200"/>
              </a:spcBef>
              <a:spcAft>
                <a:spcPts val="0"/>
              </a:spcAft>
              <a:buNone/>
            </a:pPr>
            <a:r>
              <a:t/>
            </a:r>
            <a:endParaRPr>
              <a:solidFill>
                <a:schemeClr val="accent4"/>
              </a:solidFill>
            </a:endParaRPr>
          </a:p>
        </p:txBody>
      </p:sp>
      <p:sp>
        <p:nvSpPr>
          <p:cNvPr id="693" name="Google Shape;693;p53"/>
          <p:cNvSpPr txBox="1"/>
          <p:nvPr>
            <p:ph type="title"/>
          </p:nvPr>
        </p:nvSpPr>
        <p:spPr>
          <a:xfrm>
            <a:off x="229800" y="457200"/>
            <a:ext cx="8778300" cy="4848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000"/>
              <a:t>Satellite Survival by Launch Cohort</a:t>
            </a:r>
            <a:endParaRPr sz="2100"/>
          </a:p>
        </p:txBody>
      </p:sp>
      <p:pic>
        <p:nvPicPr>
          <p:cNvPr id="694" name="Google Shape;694;p53"/>
          <p:cNvPicPr preferRelativeResize="0"/>
          <p:nvPr/>
        </p:nvPicPr>
        <p:blipFill>
          <a:blip r:embed="rId3">
            <a:alphaModFix/>
          </a:blip>
          <a:stretch>
            <a:fillRect/>
          </a:stretch>
        </p:blipFill>
        <p:spPr>
          <a:xfrm>
            <a:off x="4761550" y="1013125"/>
            <a:ext cx="4246549" cy="2842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54"/>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700" name="Google Shape;700;p54"/>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Datathon 2025</a:t>
            </a:r>
            <a:endParaRPr/>
          </a:p>
        </p:txBody>
      </p:sp>
      <p:sp>
        <p:nvSpPr>
          <p:cNvPr id="701" name="Google Shape;701;p54"/>
          <p:cNvSpPr txBox="1"/>
          <p:nvPr>
            <p:ph type="title"/>
          </p:nvPr>
        </p:nvSpPr>
        <p:spPr>
          <a:xfrm>
            <a:off x="228600" y="492850"/>
            <a:ext cx="4488300" cy="554100"/>
          </a:xfrm>
          <a:prstGeom prst="rect">
            <a:avLst/>
          </a:prstGeom>
        </p:spPr>
        <p:txBody>
          <a:bodyPr anchorCtr="0" anchor="t" bIns="91425" lIns="0" spcFirstLastPara="1" rIns="91425" wrap="square" tIns="0">
            <a:spAutoFit/>
          </a:bodyPr>
          <a:lstStyle/>
          <a:p>
            <a:pPr indent="0" lvl="0" marL="0" marR="0" rtl="0" algn="l">
              <a:lnSpc>
                <a:spcPct val="100000"/>
              </a:lnSpc>
              <a:spcBef>
                <a:spcPts val="0"/>
              </a:spcBef>
              <a:spcAft>
                <a:spcPts val="0"/>
              </a:spcAft>
              <a:buNone/>
            </a:pPr>
            <a:r>
              <a:rPr lang="en" sz="3000">
                <a:solidFill>
                  <a:schemeClr val="lt1"/>
                </a:solidFill>
                <a:latin typeface="Urbanist"/>
                <a:ea typeface="Urbanist"/>
                <a:cs typeface="Urbanist"/>
                <a:sym typeface="Urbanist"/>
              </a:rPr>
              <a:t>Recommendations</a:t>
            </a:r>
            <a:endParaRPr/>
          </a:p>
        </p:txBody>
      </p:sp>
      <p:sp>
        <p:nvSpPr>
          <p:cNvPr id="702" name="Google Shape;702;p54"/>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Our successful partnerships</a:t>
            </a:r>
            <a:endParaRPr/>
          </a:p>
        </p:txBody>
      </p:sp>
      <p:sp>
        <p:nvSpPr>
          <p:cNvPr id="703" name="Google Shape;703;p54"/>
          <p:cNvSpPr txBox="1"/>
          <p:nvPr>
            <p:ph idx="1" type="body"/>
          </p:nvPr>
        </p:nvSpPr>
        <p:spPr>
          <a:xfrm>
            <a:off x="320625" y="1167625"/>
            <a:ext cx="3812400" cy="2813700"/>
          </a:xfrm>
          <a:prstGeom prst="rect">
            <a:avLst/>
          </a:prstGeom>
        </p:spPr>
        <p:txBody>
          <a:bodyPr anchorCtr="0" anchor="t" bIns="0" lIns="0" spcFirstLastPara="1" rIns="0" wrap="square" tIns="0">
            <a:noAutofit/>
          </a:bodyPr>
          <a:lstStyle/>
          <a:p>
            <a:pPr indent="-298450" lvl="0" marL="457200" rtl="0" algn="l">
              <a:lnSpc>
                <a:spcPct val="115000"/>
              </a:lnSpc>
              <a:spcBef>
                <a:spcPts val="0"/>
              </a:spcBef>
              <a:spcAft>
                <a:spcPts val="0"/>
              </a:spcAft>
              <a:buSzPts val="1100"/>
              <a:buFont typeface="Arial"/>
              <a:buChar char="●"/>
            </a:pPr>
            <a:r>
              <a:rPr b="1" lang="en" sz="1100"/>
              <a:t>For Operators (e.g., SpaceX, NOAA):</a:t>
            </a:r>
            <a:br>
              <a:rPr b="1" lang="en" sz="1100"/>
            </a:br>
            <a:r>
              <a:rPr lang="en" sz="1100"/>
              <a:t> Adopt BSTAR anomaly monitoring to trigger early reboost maneuvers.</a:t>
            </a:r>
            <a:br>
              <a:rPr lang="en" sz="1100"/>
            </a:br>
            <a:endParaRPr sz="1100"/>
          </a:p>
          <a:p>
            <a:pPr indent="-298450" lvl="0" marL="457200" rtl="0" algn="l">
              <a:lnSpc>
                <a:spcPct val="115000"/>
              </a:lnSpc>
              <a:spcBef>
                <a:spcPts val="0"/>
              </a:spcBef>
              <a:spcAft>
                <a:spcPts val="0"/>
              </a:spcAft>
              <a:buSzPts val="1100"/>
              <a:buFont typeface="Arial"/>
              <a:buChar char="●"/>
            </a:pPr>
            <a:r>
              <a:rPr b="1" lang="en" sz="1100"/>
              <a:t>For Insurers &amp; Risk Managers:</a:t>
            </a:r>
            <a:br>
              <a:rPr b="1" lang="en" sz="1100"/>
            </a:br>
            <a:r>
              <a:rPr lang="en" sz="1100"/>
              <a:t> Integrate congestion heatmaps into risk models to refine premium pricing and liability coverage.</a:t>
            </a:r>
            <a:br>
              <a:rPr lang="en" sz="1100"/>
            </a:br>
            <a:endParaRPr sz="1100"/>
          </a:p>
          <a:p>
            <a:pPr indent="-298450" lvl="0" marL="457200" rtl="0" algn="l">
              <a:lnSpc>
                <a:spcPct val="115000"/>
              </a:lnSpc>
              <a:spcBef>
                <a:spcPts val="0"/>
              </a:spcBef>
              <a:spcAft>
                <a:spcPts val="0"/>
              </a:spcAft>
              <a:buSzPts val="1100"/>
              <a:buFont typeface="Arial"/>
              <a:buChar char="●"/>
            </a:pPr>
            <a:r>
              <a:rPr b="1" lang="en" sz="1100"/>
              <a:t>For Policymakers:</a:t>
            </a:r>
            <a:br>
              <a:rPr b="1" lang="en" sz="1100"/>
            </a:br>
            <a:r>
              <a:rPr lang="en" sz="1100"/>
              <a:t> Encourage space-weather-aware deployment protocols to reduce systemic risks in crowded shells.</a:t>
            </a:r>
            <a:br>
              <a:rPr lang="en" sz="1100"/>
            </a:br>
            <a:endParaRPr sz="1100"/>
          </a:p>
          <a:p>
            <a:pPr indent="-298450" lvl="0" marL="457200" rtl="0" algn="l">
              <a:lnSpc>
                <a:spcPct val="115000"/>
              </a:lnSpc>
              <a:spcBef>
                <a:spcPts val="0"/>
              </a:spcBef>
              <a:spcAft>
                <a:spcPts val="0"/>
              </a:spcAft>
              <a:buSzPts val="1100"/>
              <a:buFont typeface="Arial"/>
              <a:buChar char="●"/>
            </a:pPr>
            <a:r>
              <a:rPr b="1" lang="en" sz="1100"/>
              <a:t>For Researchers:</a:t>
            </a:r>
            <a:br>
              <a:rPr b="1" lang="en" sz="1100"/>
            </a:br>
            <a:r>
              <a:rPr b="1" lang="en" sz="1100"/>
              <a:t> </a:t>
            </a:r>
            <a:r>
              <a:rPr lang="en" sz="1100"/>
              <a:t>Use correlation insights to refine predictive models of orbital decay and anomaly events.</a:t>
            </a:r>
            <a:endParaRPr/>
          </a:p>
        </p:txBody>
      </p:sp>
      <p:sp>
        <p:nvSpPr>
          <p:cNvPr id="704" name="Google Shape;704;p54"/>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The Stellars</a:t>
            </a:r>
            <a:endParaRPr/>
          </a:p>
        </p:txBody>
      </p:sp>
      <p:pic>
        <p:nvPicPr>
          <p:cNvPr id="705" name="Google Shape;705;p54"/>
          <p:cNvPicPr preferRelativeResize="0"/>
          <p:nvPr/>
        </p:nvPicPr>
        <p:blipFill>
          <a:blip r:embed="rId3">
            <a:alphaModFix/>
          </a:blip>
          <a:stretch>
            <a:fillRect/>
          </a:stretch>
        </p:blipFill>
        <p:spPr>
          <a:xfrm>
            <a:off x="4086350" y="879172"/>
            <a:ext cx="4829350" cy="32258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55"/>
          <p:cNvSpPr txBox="1"/>
          <p:nvPr>
            <p:ph type="title"/>
          </p:nvPr>
        </p:nvSpPr>
        <p:spPr>
          <a:xfrm>
            <a:off x="228600" y="640925"/>
            <a:ext cx="46377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Conclusion</a:t>
            </a:r>
            <a:endParaRPr/>
          </a:p>
        </p:txBody>
      </p:sp>
      <p:sp>
        <p:nvSpPr>
          <p:cNvPr id="711" name="Google Shape;711;p55"/>
          <p:cNvSpPr txBox="1"/>
          <p:nvPr>
            <p:ph idx="1" type="body"/>
          </p:nvPr>
        </p:nvSpPr>
        <p:spPr>
          <a:xfrm>
            <a:off x="284700" y="1361950"/>
            <a:ext cx="8574600" cy="1599300"/>
          </a:xfrm>
          <a:prstGeom prst="rect">
            <a:avLst/>
          </a:prstGeom>
        </p:spPr>
        <p:txBody>
          <a:bodyPr anchorCtr="0" anchor="b" bIns="0" lIns="0" spcFirstLastPara="1" rIns="91425" wrap="square" tIns="91425">
            <a:noAutofit/>
          </a:bodyPr>
          <a:lstStyle/>
          <a:p>
            <a:pPr indent="-298450" lvl="0" marL="457200" rtl="0" algn="l">
              <a:spcBef>
                <a:spcPts val="0"/>
              </a:spcBef>
              <a:spcAft>
                <a:spcPts val="0"/>
              </a:spcAft>
              <a:buClr>
                <a:schemeClr val="lt1"/>
              </a:buClr>
              <a:buSzPts val="1100"/>
              <a:buChar char="●"/>
            </a:pPr>
            <a:r>
              <a:rPr b="1" lang="en" sz="1100"/>
              <a:t>Early anomaly detection</a:t>
            </a:r>
            <a:r>
              <a:rPr lang="en" sz="1100"/>
              <a:t> can provide operators with actionable alerts, preventing unexpected reentries.</a:t>
            </a:r>
            <a:br>
              <a:rPr lang="en" sz="1100"/>
            </a:br>
            <a:endParaRPr sz="1100"/>
          </a:p>
          <a:p>
            <a:pPr indent="-298450" lvl="0" marL="457200" rtl="0" algn="l">
              <a:spcBef>
                <a:spcPts val="0"/>
              </a:spcBef>
              <a:spcAft>
                <a:spcPts val="0"/>
              </a:spcAft>
              <a:buClr>
                <a:schemeClr val="lt1"/>
              </a:buClr>
              <a:buSzPts val="1100"/>
              <a:buChar char="●"/>
            </a:pPr>
            <a:r>
              <a:rPr b="1" lang="en" sz="1100"/>
              <a:t>Congestion heatmaps</a:t>
            </a:r>
            <a:r>
              <a:rPr lang="en" sz="1100"/>
              <a:t> help insurers and regulators quantify orbital risk zones, guiding smarter policies and pricing.</a:t>
            </a:r>
            <a:br>
              <a:rPr lang="en" sz="1100"/>
            </a:br>
            <a:endParaRPr sz="1100"/>
          </a:p>
          <a:p>
            <a:pPr indent="-298450" lvl="0" marL="457200" rtl="0" algn="l">
              <a:spcBef>
                <a:spcPts val="0"/>
              </a:spcBef>
              <a:spcAft>
                <a:spcPts val="0"/>
              </a:spcAft>
              <a:buClr>
                <a:schemeClr val="lt1"/>
              </a:buClr>
              <a:buSzPts val="1100"/>
              <a:buChar char="●"/>
            </a:pPr>
            <a:r>
              <a:rPr b="1" lang="en" sz="1100"/>
              <a:t>Feature correlations (HP_KM, BSTAR, Mean Motion)</a:t>
            </a:r>
            <a:r>
              <a:rPr lang="en" sz="1100"/>
              <a:t> confirm drag as a key instability driver → strengthens predictive models.</a:t>
            </a:r>
            <a:br>
              <a:rPr lang="en" sz="1100"/>
            </a:br>
            <a:endParaRPr sz="1100"/>
          </a:p>
          <a:p>
            <a:pPr indent="-298450" lvl="0" marL="457200" rtl="0" algn="l">
              <a:spcBef>
                <a:spcPts val="0"/>
              </a:spcBef>
              <a:spcAft>
                <a:spcPts val="0"/>
              </a:spcAft>
              <a:buClr>
                <a:schemeClr val="lt1"/>
              </a:buClr>
              <a:buSzPts val="1100"/>
              <a:buChar char="●"/>
            </a:pPr>
            <a:r>
              <a:rPr lang="en" sz="1100"/>
              <a:t>Our approach demonstrates a </a:t>
            </a:r>
            <a:r>
              <a:rPr b="1" lang="en" sz="1100"/>
              <a:t>scalable pipeline</a:t>
            </a:r>
            <a:r>
              <a:rPr lang="en" sz="1100"/>
              <a:t> for mega-constellations, enhancing global </a:t>
            </a:r>
            <a:r>
              <a:rPr b="1" lang="en" sz="1100"/>
              <a:t>space situational awareness (SSA)</a:t>
            </a:r>
            <a:r>
              <a:rPr lang="en" sz="1100"/>
              <a:t>.</a:t>
            </a:r>
            <a:endParaRPr sz="1100"/>
          </a:p>
          <a:p>
            <a:pPr indent="0" lvl="0" marL="0" rtl="0" algn="l">
              <a:spcBef>
                <a:spcPts val="800"/>
              </a:spcBef>
              <a:spcAft>
                <a:spcPts val="800"/>
              </a:spcAft>
              <a:buNone/>
            </a:pPr>
            <a:r>
              <a:t/>
            </a:r>
            <a:endParaRPr sz="1100"/>
          </a:p>
        </p:txBody>
      </p:sp>
      <p:sp>
        <p:nvSpPr>
          <p:cNvPr id="712" name="Google Shape;712;p55"/>
          <p:cNvSpPr txBox="1"/>
          <p:nvPr>
            <p:ph idx="6" type="subTitle"/>
          </p:nvPr>
        </p:nvSpPr>
        <p:spPr>
          <a:xfrm>
            <a:off x="284700" y="3337800"/>
            <a:ext cx="8298300" cy="228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i="1" lang="en" sz="1400">
                <a:solidFill>
                  <a:schemeClr val="accent4"/>
                </a:solidFill>
              </a:rPr>
              <a:t>Henceforth, </a:t>
            </a:r>
            <a:r>
              <a:rPr i="1" lang="en" sz="1400">
                <a:solidFill>
                  <a:schemeClr val="accent4"/>
                </a:solidFill>
              </a:rPr>
              <a:t>b</a:t>
            </a:r>
            <a:r>
              <a:rPr i="1" lang="en" sz="1400">
                <a:solidFill>
                  <a:schemeClr val="accent4"/>
                </a:solidFill>
              </a:rPr>
              <a:t>y combining anomaly detection, clustering, and congestion analysis, we take a step closer to safer, more predictable orbital environments.</a:t>
            </a:r>
            <a:endParaRPr i="1" sz="1400">
              <a:solidFill>
                <a:schemeClr val="accent4"/>
              </a:solidFill>
            </a:endParaRPr>
          </a:p>
        </p:txBody>
      </p:sp>
      <p:sp>
        <p:nvSpPr>
          <p:cNvPr id="713" name="Google Shape;713;p55"/>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Datathon 2025</a:t>
            </a:r>
            <a:endParaRPr/>
          </a:p>
        </p:txBody>
      </p:sp>
      <p:sp>
        <p:nvSpPr>
          <p:cNvPr id="714" name="Google Shape;714;p55"/>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The Stellars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